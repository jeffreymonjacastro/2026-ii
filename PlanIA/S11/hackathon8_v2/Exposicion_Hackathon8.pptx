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d2d12f46baf4f47" /><Relationship Type="http://schemas.openxmlformats.org/officeDocument/2006/relationships/extended-properties" Target="/docProps/app.xml" Id="Re7f675b781444f40" /><Relationship Type="http://schemas.openxmlformats.org/officeDocument/2006/relationships/officeDocument" Target="/ppt/presentation.xml" Id="Rd8312e9117f64e78" /></Relationships>
</file>

<file path=ppt/presentation.xml><?xml version="1.0" encoding="utf-8"?>
<p:presentation xmlns:p="http://schemas.openxmlformats.org/presentationml/2006/main">
  <p:sldMasterIdLst>
    <p:sldMasterId xmlns:r="http://schemas.openxmlformats.org/officeDocument/2006/relationships" id="2147483648" r:id="Re584f6df794b44b1"/>
  </p:sldMasterIdLst>
  <p:notesMasterIdLst>
    <p:notesMasterId xmlns:r="http://schemas.openxmlformats.org/officeDocument/2006/relationships" r:id="R984ec213326243dd"/>
  </p:notesMasterIdLst>
  <p:sldIdLst>
    <p:sldId xmlns:r="http://schemas.openxmlformats.org/officeDocument/2006/relationships" id="256" r:id="R58dc5da2cafe4a28"/>
    <p:sldId xmlns:r="http://schemas.openxmlformats.org/officeDocument/2006/relationships" id="257" r:id="R3f7446c7b3794e39"/>
    <p:sldId xmlns:r="http://schemas.openxmlformats.org/officeDocument/2006/relationships" id="258" r:id="R7d4f80710c8c492d"/>
    <p:sldId xmlns:r="http://schemas.openxmlformats.org/officeDocument/2006/relationships" id="259" r:id="Re0c2b550bcd443a0"/>
    <p:sldId xmlns:r="http://schemas.openxmlformats.org/officeDocument/2006/relationships" id="260" r:id="Rd6d2c5d02ca7462b"/>
    <p:sldId xmlns:r="http://schemas.openxmlformats.org/officeDocument/2006/relationships" id="261" r:id="R670991b4aa6f4216"/>
    <p:sldId xmlns:r="http://schemas.openxmlformats.org/officeDocument/2006/relationships" id="262" r:id="R75bdf7e336d54e05"/>
    <p:sldId xmlns:r="http://schemas.openxmlformats.org/officeDocument/2006/relationships" id="263" r:id="R3d354c3fdcde4dc2"/>
    <p:sldId xmlns:r="http://schemas.openxmlformats.org/officeDocument/2006/relationships" id="264" r:id="R39f4cea74e094c07"/>
    <p:sldId xmlns:r="http://schemas.openxmlformats.org/officeDocument/2006/relationships" id="265" r:id="Rfde99193e84243af"/>
    <p:sldId xmlns:r="http://schemas.openxmlformats.org/officeDocument/2006/relationships" id="266" r:id="Rdf992719d7444a63"/>
    <p:sldId xmlns:r="http://schemas.openxmlformats.org/officeDocument/2006/relationships" id="267" r:id="R278670abdf4f426b"/>
    <p:sldId xmlns:r="http://schemas.openxmlformats.org/officeDocument/2006/relationships" id="268" r:id="Ra7f9e937a6c144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f80096acdb4fd9" /><Relationship Type="http://schemas.openxmlformats.org/officeDocument/2006/relationships/slideMaster" Target="/ppt/slideMasters/slideMaster1.xml" Id="Re584f6df794b44b1" /><Relationship Type="http://schemas.openxmlformats.org/officeDocument/2006/relationships/notesMaster" Target="/ppt/notesMasters/notesMaster1.xml" Id="R984ec213326243dd" /><Relationship Type="http://schemas.openxmlformats.org/officeDocument/2006/relationships/presProps" Target="/ppt/presProps.xml" Id="Ra06287786e1e4a33" /><Relationship Type="http://schemas.openxmlformats.org/officeDocument/2006/relationships/tableStyles" Target="/ppt/tableStyles.xml" Id="R233f477022344dbf" /><Relationship Type="http://schemas.openxmlformats.org/officeDocument/2006/relationships/slide" Target="/ppt/slides/slide1.xml" Id="R58dc5da2cafe4a28" /><Relationship Type="http://schemas.openxmlformats.org/officeDocument/2006/relationships/slide" Target="/ppt/slides/slide2.xml" Id="R3f7446c7b3794e39" /><Relationship Type="http://schemas.openxmlformats.org/officeDocument/2006/relationships/slide" Target="/ppt/slides/slide3.xml" Id="R7d4f80710c8c492d" /><Relationship Type="http://schemas.openxmlformats.org/officeDocument/2006/relationships/slide" Target="/ppt/slides/slide4.xml" Id="Re0c2b550bcd443a0" /><Relationship Type="http://schemas.openxmlformats.org/officeDocument/2006/relationships/slide" Target="/ppt/slides/slide5.xml" Id="Rd6d2c5d02ca7462b" /><Relationship Type="http://schemas.openxmlformats.org/officeDocument/2006/relationships/slide" Target="/ppt/slides/slide6.xml" Id="R670991b4aa6f4216" /><Relationship Type="http://schemas.openxmlformats.org/officeDocument/2006/relationships/slide" Target="/ppt/slides/slide7.xml" Id="R75bdf7e336d54e05" /><Relationship Type="http://schemas.openxmlformats.org/officeDocument/2006/relationships/slide" Target="/ppt/slides/slide8.xml" Id="R3d354c3fdcde4dc2" /><Relationship Type="http://schemas.openxmlformats.org/officeDocument/2006/relationships/slide" Target="/ppt/slides/slide9.xml" Id="R39f4cea74e094c07" /><Relationship Type="http://schemas.openxmlformats.org/officeDocument/2006/relationships/slide" Target="/ppt/slides/slide10.xml" Id="Rfde99193e84243af" /><Relationship Type="http://schemas.openxmlformats.org/officeDocument/2006/relationships/slide" Target="/ppt/slides/slide11.xml" Id="Rdf992719d7444a63" /><Relationship Type="http://schemas.openxmlformats.org/officeDocument/2006/relationships/slide" Target="/ppt/slides/slide12.xml" Id="R278670abdf4f426b" /><Relationship Type="http://schemas.openxmlformats.org/officeDocument/2006/relationships/slide" Target="/ppt/slides/slide13.xml" Id="Ra7f9e937a6c144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db15daf0a148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27c7e06a2b4fe5" /><Relationship Type="http://schemas.openxmlformats.org/officeDocument/2006/relationships/notesMaster" Target="/ppt/notesMasters/notesMaster1.xml" Id="R9ea5268bb77947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e1e84635e7409c" /><Relationship Type="http://schemas.openxmlformats.org/officeDocument/2006/relationships/notesMaster" Target="/ppt/notesMasters/notesMaster1.xml" Id="R52984df3c37847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7aa7ee14884655" /><Relationship Type="http://schemas.openxmlformats.org/officeDocument/2006/relationships/notesMaster" Target="/ppt/notesMasters/notesMaster1.xml" Id="R7cdf51e958d64b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5cd991792a4a96" /><Relationship Type="http://schemas.openxmlformats.org/officeDocument/2006/relationships/notesMaster" Target="/ppt/notesMasters/notesMaster1.xml" Id="R0ceb7a78593645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4450a8b38c43db" /><Relationship Type="http://schemas.openxmlformats.org/officeDocument/2006/relationships/notesMaster" Target="/ppt/notesMasters/notesMaster1.xml" Id="Rdc2b985a8b9c43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4daad481e14806" /><Relationship Type="http://schemas.openxmlformats.org/officeDocument/2006/relationships/notesMaster" Target="/ppt/notesMasters/notesMaster1.xml" Id="Rd4eaaae7a7694a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71455bb1cf420e" /><Relationship Type="http://schemas.openxmlformats.org/officeDocument/2006/relationships/notesMaster" Target="/ppt/notesMasters/notesMaster1.xml" Id="R2f8027c7e42447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f04bafe3b342e8" /><Relationship Type="http://schemas.openxmlformats.org/officeDocument/2006/relationships/notesMaster" Target="/ppt/notesMasters/notesMaster1.xml" Id="R3781ca2eba2548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ad8a9fb30d4455" /><Relationship Type="http://schemas.openxmlformats.org/officeDocument/2006/relationships/notesMaster" Target="/ppt/notesMasters/notesMaster1.xml" Id="R9baa95dde36948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bd50dd4ed6401b" /><Relationship Type="http://schemas.openxmlformats.org/officeDocument/2006/relationships/notesMaster" Target="/ppt/notesMasters/notesMaster1.xml" Id="R6e3293feaa174a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7d8fa0ed7643cc" /><Relationship Type="http://schemas.openxmlformats.org/officeDocument/2006/relationships/notesMaster" Target="/ppt/notesMasters/notesMaster1.xml" Id="Rf31b75fd96a748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7c4a6f30084d6b" /><Relationship Type="http://schemas.openxmlformats.org/officeDocument/2006/relationships/notesMaster" Target="/ppt/notesMasters/notesMaster1.xml" Id="Rdee698624ee049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54addd83294993" /><Relationship Type="http://schemas.openxmlformats.org/officeDocument/2006/relationships/notesMaster" Target="/ppt/notesMasters/notesMaster1.xml" Id="Rf2648affdc814b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del diseño factorial real: r=2,8,32 y alpha=8,32, semillas 42 y 43. Fuente: factorial/results. Todos los datos son sintéticos. Modelo: https://huggingface.co/Qwen/Qwen3.5-4B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Política completa: src/dataset_generator.py. Crítica: seguridad física o datos activos, o interrupción total &gt;=50 personas sin alternativa. Alta: &lt;=8h y (impacto&gt;=2 o dependencias&gt;=3), o impacto3 sin alternativa. Media: &lt;=48h o impacto&gt;=2 o dependencias&gt;=1. Bloqueo no reduce prioridad.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384 ejemplos originales se conservan sin cambios. Se agregan 128: total 512. Confirmación con semilla 20261031 y familias disjuntas, abierta después de seleccionar. La prueba anterior ya había sido vista; la nueva confirmación reduce ese riesgo. No representa validación con datos reales. Auditorías: data/checks.json y factorial/data/audit.json.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 fijado antes de los resultados. Aleatorización de orden dentro de fases. La semilla es un bloque, no un factor optimizado. Escala estándar=alpha/r, por eso se estudia la interacción. Mismas proyecciones adaptadas, dropout 0.05 y tasa de aprendizaje máxima 0.0002. Fuentes: factorial/plan.json, DISEÑO.md y transcripción del video https://www.youtube.com/watch?v=EYKfpKXErtQ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Datos: factorial/results/cells.csv, solo las doce condiciones factoriales. Eje categórico con niveles equidistantes en log2(r): 2,8,32. Interacción significa que el efecto del rango cambia con alpha. No se usa la prueba para elegir hiperparámetros.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Fórmula: F1_validación = b0+b1*x+b2*q+b3*z+b4*x*z+b5*q*z+b6*bloque; x=(log2(r)-3)/2; q=x²-2/3; z=−1/+1. R²=0.9796944746138281. El modelo se ajusta solo con las doce validaciones. Se exploran rangos enteros de 1 a 64 y alpha 8/32, y se entrenan los candidatos nuevos. La extrapolación se comprueba con mediciones. Dos semillas y una respuesta acotada limitan las pruebas F. Dos niveles de alpha no permiten estimar su curvatura. Evidencia: regression.json, theoretical_optimum.json y optimum_check.json.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 pasar de r=1 a r=2 con alpha=32, la diferencia media en validación fue -0.022. Su límite superior unilateral del 95 % fue 0.017, menor que el margen práctico de 0.02. En este tramo, con los casos y semillas medidos, los resultados no justifican aumentar el rango para buscar una ganancia de 0.02 o más. Se realizan 2000 remuestreos pareados de casos y semillas. Dos semillas no describen toda la población de entrenamientos. Los intervalos completos están en marginal_gains.json. Un límite superior unilateral del 95 % menor que 0.02 acota una mejora relevante solo en este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cells.csv y experiments.csv. VRAM máxima asignada por PyTorch al proceso. Una pasada forward/backward prepara los kernels sin actualizar pesos y luego se restaura la semilla. El costo hipotético es USD 1/h: tiempo en segundos / 3600. Es proporcional al tiempo, no un factor independiente. Nodo g002, 4 CPU, 32 GiB de RAM y 7 shards.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Regla fijada en plan.json antes de los resultados. La selección final usa la validación media entre dos semillas, considerando las comprobaciones adicionales. La tolerancia de 0.02 es una preferencia práctica, no una equivalencia estadística automática. La frontera de Pareto considera F1, memoria y tiempo. Evidencia: cells.csv y 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Implementaciones oficiales de Hugging Face PEFT. DoRA: LoraConfig use_dora=True. rsLoRA: use_rslora=True, escala alpha/sqrt(r) frente a alpha/r. LoRA+: create_loraplus_optimizer con torch.optim.AdamW y razón 16. El calendario multiplica cada tasa original y conserva la razón B/A en los32pasos, verificada en historiales. Rango y alpha compartidos desde la selección LoRA, no óptimos individuales. Fuentes: https://huggingface.co/docs/peft/en/package_reference/lora , https://arxiv.org/abs/2312.03732 y https://arxiv.org/abs/2402.12354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LoRA aprende una actualización de bajo rango sobre pesos congelados. DoRA separa magnitud y dirección y aprende también parámetros de magnitud. Se usa LoraConfig con use_dora=True de PEFT. Ambos mantienen rango, alpha, datos, prompt, precisión, nodo, presupuesto y dos semillas. Los adaptadores no se fusionan en inferencia. PEFT recomienda la fusión para reducir el sobrecosto de DoRA. Fuentes: src/factorial_runner.py, adaptadores seleccionados, all_metrics.json, https://huggingface.co/docs/peft/en/package_reference/lora y https://arxiv.org/abs/2402.09353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confirmation_metrics.json y confirmation_summary.csv. Son 128 casos equilibrados, 32 por clase, con grupos separados. El modelo base no se entrena y los adaptadores usan semillas 42 y 43. La nueva confirmación se agregó porque la prueba original ya se había analizado antes del factorial. El intervalo pareado de DoRA menos LoRA está en technology_comparison.json. No extrapolar a solicitudes reales sin validación adicional.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Resumen y conclusión extendida en factorial/conclusion.md. Los resultados no establecen un límite universal de LoRA. La entrega incluye tres notebooks ejecutados, planes, datos, predicciones y adaptadores seleccionados. Fuentes: material docente, Qwen, PEFT y transcripción del video. Se agradece al HPC Khipu de UTEC por los recursos computacionales.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7c7d853dbb44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52cd97e84b44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75ab611bb944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7bfb84df8648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e627808acd44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bc13a05d6141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E3C03C-594A-4E6C-8CD4-8CC42D9362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388BBA-6D4F-4A5B-B92A-09615021FF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7FE3A6E-3056-4CE8-B8C7-E98D5A0F419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3EBF8C-3873-4DCF-9E7B-FFC7376CA6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3906CA5-D244-4644-83C0-70BCA8CAF9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9987308-9416-4059-ADD3-B982E67617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24C708-7A09-47E7-9EBD-3BA4C96075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DEC9D3-FD4B-4F68-A89C-2EA861D232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EBE685-568F-4D3E-94D9-3ED5F1E930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B49704-D652-4997-876C-F68E9A5214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ee49b64fd2435e" /><Relationship Type="http://schemas.openxmlformats.org/officeDocument/2006/relationships/slideLayout" Target="/ppt/slideLayouts/slideLayout1.xml" Id="R8ae9c80fe7ea4a57" /><Relationship Type="http://schemas.openxmlformats.org/officeDocument/2006/relationships/slideLayout" Target="/ppt/slideLayouts/slideLayout2.xml" Id="Rea2da13f869240b3" /><Relationship Type="http://schemas.openxmlformats.org/officeDocument/2006/relationships/slideLayout" Target="/ppt/slideLayouts/slideLayout3.xml" Id="R07266814795043ea" /><Relationship Type="http://schemas.openxmlformats.org/officeDocument/2006/relationships/slideLayout" Target="/ppt/slideLayouts/slideLayout4.xml" Id="R0f362a8fcc274d2d" /><Relationship Type="http://schemas.openxmlformats.org/officeDocument/2006/relationships/slideLayout" Target="/ppt/slideLayouts/slideLayout5.xml" Id="R4ee5cf7bfb894afa" /><Relationship Type="http://schemas.openxmlformats.org/officeDocument/2006/relationships/slideLayout" Target="/ppt/slideLayouts/slideLayout6.xml" Id="R3cfe2f5ae81944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e9c80fe7ea4a57"/>
    <p:sldLayoutId xmlns:r="http://schemas.openxmlformats.org/officeDocument/2006/relationships" id="2147483650" r:id="Rea2da13f869240b3"/>
    <p:sldLayoutId xmlns:r="http://schemas.openxmlformats.org/officeDocument/2006/relationships" id="2147483651" r:id="R07266814795043ea"/>
    <p:sldLayoutId xmlns:r="http://schemas.openxmlformats.org/officeDocument/2006/relationships" id="2147483652" r:id="R0f362a8fcc274d2d"/>
    <p:sldLayoutId xmlns:r="http://schemas.openxmlformats.org/officeDocument/2006/relationships" id="2147483653" r:id="R4ee5cf7bfb894afa"/>
    <p:sldLayoutId xmlns:r="http://schemas.openxmlformats.org/officeDocument/2006/relationships" id="2147483654" r:id="R3cfe2f5ae81944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6e5d4767594572" /><Relationship Type="http://schemas.openxmlformats.org/officeDocument/2006/relationships/notesSlide" Target="/ppt/notesSlides/notesSlide1.xml" Id="R1e41a56747eb4a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6002605b604cd1" /><Relationship Type="http://schemas.openxmlformats.org/officeDocument/2006/relationships/notesSlide" Target="/ppt/notesSlides/notesSlide2.xml" Id="Rddb042ca083d43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169f8af497e44d6" /><Relationship Type="http://schemas.openxmlformats.org/officeDocument/2006/relationships/notesSlide" Target="/ppt/notesSlides/notesSlide3.xml" Id="R487bbc9769554f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92e2e4e6e3344f0" /><Relationship Type="http://schemas.openxmlformats.org/officeDocument/2006/relationships/notesSlide" Target="/ppt/notesSlides/notesSlide4.xml" Id="R4b7aff41757048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d18a0491bd4470" /><Relationship Type="http://schemas.openxmlformats.org/officeDocument/2006/relationships/chart" Target="/ppt/slides/charts/chart1.xml" Id="R6d67b6fe19054546" /><Relationship Type="http://schemas.openxmlformats.org/officeDocument/2006/relationships/notesSlide" Target="/ppt/notesSlides/notesSlide5.xml" Id="R6e4205a64daf45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6737e909653489f" /><Relationship Type="http://schemas.openxmlformats.org/officeDocument/2006/relationships/notesSlide" Target="/ppt/notesSlides/notesSlide6.xml" Id="R78246a25b2574e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ddbad48124b4361" /><Relationship Type="http://schemas.openxmlformats.org/officeDocument/2006/relationships/notesSlide" Target="/ppt/notesSlides/notesSlide7.xml" Id="R8d410ab0af7848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2dfe2932d8a405d" /><Relationship Type="http://schemas.openxmlformats.org/officeDocument/2006/relationships/notesSlide" Target="/ppt/notesSlides/notesSlide8.xml" Id="R2aae374e1da74f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08735d13cb34d75" /><Relationship Type="http://schemas.openxmlformats.org/officeDocument/2006/relationships/notesSlide" Target="/ppt/notesSlides/notesSlide9.xml" Id="Red35725543324e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fe24f2112ee4b87" /><Relationship Type="http://schemas.openxmlformats.org/officeDocument/2006/relationships/notesSlide" Target="/ppt/notesSlides/notesSlide10.xml" Id="R5a55ee20c13340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889fdcb7adf4ef3" /><Relationship Type="http://schemas.openxmlformats.org/officeDocument/2006/relationships/notesSlide" Target="/ppt/notesSlides/notesSlide11.xml" Id="R9cfc0273ade34b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d655cdac6b4839" /><Relationship Type="http://schemas.openxmlformats.org/officeDocument/2006/relationships/chart" Target="/ppt/slides/charts/chart2.xml" Id="R2f77bd1ab0044e42" /><Relationship Type="http://schemas.openxmlformats.org/officeDocument/2006/relationships/notesSlide" Target="/ppt/notesSlides/notesSlide12.xml" Id="R0da04f2c1b2e45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13deb864d9442b8" /><Relationship Type="http://schemas.openxmlformats.org/officeDocument/2006/relationships/notesSlide" Target="/ppt/notesSlides/notesSlide13.xml" Id="Re44b2bb9a39544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alpha = 8</c:v>
          </c:tx>
          <c:spPr>
            <a:ln xmlns:a="http://schemas.openxmlformats.org/drawingml/2006/main" w="28575">
              <a:solidFill>
                <a:srgbClr val="167C80"/>
              </a:solidFill>
            </a:ln>
          </c:spPr>
          <c:marker>
            <c:symbol val="circle"/>
            <c:size val="9"/>
            <c:spPr>
              <a:solidFill xmlns:a="http://schemas.openxmlformats.org/drawingml/2006/main">
                <a:srgbClr val="167C80"/>
              </a:solidFill>
            </c:spPr>
          </c:marker>
          <c:cat>
            <c:strRef>
              <c:f>'Chart Data'!$A$2:$A$4</c:f>
              <c:strCache>
                <c:ptCount val="3"/>
                <c:pt idx="0">
                  <c:v>r = 2</c:v>
                </c:pt>
                <c:pt idx="1">
                  <c:v>r = 8</c:v>
                </c:pt>
                <c:pt idx="2">
                  <c:v>r = 32</c:v>
                </c:pt>
              </c:strCache>
            </c:strRef>
          </c:cat>
          <c:val>
            <c:numRef>
              <c:f>'Chart Data'!$B$2:$B$4</c:f>
              <c:numCache>
                <c:formatCode>0.00</c:formatCode>
                <c:ptCount val="3"/>
                <c:pt idx="0">
                  <c:v>0.731542</c:v>
                </c:pt>
                <c:pt idx="1">
                  <c:v>0.730312</c:v>
                </c:pt>
                <c:pt idx="2">
                  <c:v>0.739293</c:v>
                </c:pt>
              </c:numCache>
            </c:numRef>
          </c:val>
        </c:ser>
        <c:ser>
          <c:idx val="1"/>
          <c:order val="1"/>
          <c:tx>
            <c:v>alpha = 32</c:v>
          </c:tx>
          <c:spPr>
            <a:ln xmlns:a="http://schemas.openxmlformats.org/drawingml/2006/main" w="28575">
              <a:solidFill>
                <a:srgbClr val="CE7837"/>
              </a:solidFill>
            </a:ln>
          </c:spPr>
          <c:marker>
            <c:symbol val="circle"/>
            <c:size val="9"/>
            <c:spPr>
              <a:solidFill xmlns:a="http://schemas.openxmlformats.org/drawingml/2006/main">
                <a:srgbClr val="CE7837"/>
              </a:solidFill>
            </c:spPr>
          </c:marker>
          <c:cat>
            <c:strRef>
              <c:f>'Chart Data'!$C$2:$C$4</c:f>
              <c:strCache>
                <c:ptCount val="3"/>
                <c:pt idx="0">
                  <c:v>r = 2</c:v>
                </c:pt>
                <c:pt idx="1">
                  <c:v>r = 8</c:v>
                </c:pt>
                <c:pt idx="2">
                  <c:v>r = 32</c:v>
                </c:pt>
              </c:strCache>
            </c:strRef>
          </c:cat>
          <c:val>
            <c:numRef>
              <c:f>'Chart Data'!$D$2:$D$4</c:f>
              <c:numCache>
                <c:formatCode>0.00</c:formatCode>
                <c:ptCount val="3"/>
                <c:pt idx="0">
                  <c:v>0.806025</c:v>
                </c:pt>
                <c:pt idx="1">
                  <c:v>0.803682</c:v>
                </c:pt>
                <c:pt idx="2">
                  <c:v>0.801724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0.9"/>
          <c:min val="0.65"/>
        </c:scaling>
        <c:delete val="0"/>
        <c:axPos val="l"/>
        <c:majorGridlines>
          <c:spPr>
            <a:ln xmlns:a="http://schemas.openxmlformats.org/drawingml/2006/main" w="9525">
              <a:solidFill>
                <a:srgbClr val="DDE5EA"/>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0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F1 macro</c:v>
          </c:tx>
          <c:spPr>
            <a:solidFill xmlns:a="http://schemas.openxmlformats.org/drawingml/2006/main">
              <a:srgbClr val="167C80"/>
            </a:solidFill>
          </c:spPr>
          <c:invertIfNegative val="0"/>
          <c:cat>
            <c:strRef>
              <c:f>'Chart Data'!$A$2:$A$6</c:f>
              <c:strCache>
                <c:ptCount val="5"/>
                <c:pt idx="0">
                  <c:v>Base</c:v>
                </c:pt>
                <c:pt idx="1">
                  <c:v>LoRA</c:v>
                </c:pt>
                <c:pt idx="2">
                  <c:v>DoRA</c:v>
                </c:pt>
                <c:pt idx="3">
                  <c:v>rsLoRA</c:v>
                </c:pt>
                <c:pt idx="4">
                  <c:v>LoRA+</c:v>
                </c:pt>
              </c:strCache>
            </c:strRef>
          </c:cat>
          <c:val>
            <c:numRef>
              <c:f>'Chart Data'!$B$2:$B$6</c:f>
              <c:numCache>
                <c:formatCode>0.0</c:formatCode>
                <c:ptCount val="5"/>
                <c:pt idx="0">
                  <c:v>0.794287</c:v>
                </c:pt>
                <c:pt idx="1">
                  <c:v>0.834617</c:v>
                </c:pt>
                <c:pt idx="2">
                  <c:v>0.838458</c:v>
                </c:pt>
                <c:pt idx="3">
                  <c:v>0.855333</c:v>
                </c:pt>
                <c:pt idx="4">
                  <c:v>0.708836</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B5EF01F-FB51-4090-8572-144A1261D45D}"/>
              </a:ext>
            </a:extLst>
          </p:cNvPr>
          <p:cNvSpPr>
            <a:spLocks xmlns:a="http://schemas.openxmlformats.org/drawingml/2006/main" noGrp="1"/>
          </p:cNvSpPr>
          <p:nvPr/>
        </p:nvSpPr>
        <p:spPr>
          <a:xfrm xmlns:a="http://schemas.openxmlformats.org/drawingml/2006/main">
            <a:off x="609600" y="138112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173447"/>
                </a:solidFill>
                <a:latin typeface="Arial"/>
                <a:ea typeface="Arial"/>
                <a:cs typeface="Arial"/>
              </a:defRPr>
            </a:defPPr>
            <a:lvl1pPr>
              <a:defRPr sz="4650" b="1">
                <a:solidFill>
                  <a:srgbClr val="173447"/>
                </a:solidFill>
                <a:latin typeface="Arial"/>
                <a:ea typeface="Arial"/>
                <a:cs typeface="Arial"/>
              </a:defRPr>
            </a:lvl1pPr>
            <a:lvl2pPr>
              <a:defRPr sz="4650" b="1">
                <a:solidFill>
                  <a:srgbClr val="173447"/>
                </a:solidFill>
                <a:latin typeface="Arial"/>
                <a:ea typeface="Arial"/>
                <a:cs typeface="Arial"/>
              </a:defRPr>
            </a:lvl2pPr>
            <a:lvl3pPr>
              <a:defRPr sz="4650" b="1">
                <a:solidFill>
                  <a:srgbClr val="173447"/>
                </a:solidFill>
                <a:latin typeface="Arial"/>
                <a:ea typeface="Arial"/>
                <a:cs typeface="Arial"/>
              </a:defRPr>
            </a:lvl3pPr>
            <a:lvl4pPr>
              <a:defRPr sz="4650" b="1">
                <a:solidFill>
                  <a:srgbClr val="173447"/>
                </a:solidFill>
                <a:latin typeface="Arial"/>
                <a:ea typeface="Arial"/>
                <a:cs typeface="Arial"/>
              </a:defRPr>
            </a:lvl4pPr>
            <a:lvl5pPr>
              <a:defRPr sz="4650" b="1">
                <a:solidFill>
                  <a:srgbClr val="173447"/>
                </a:solidFill>
                <a:latin typeface="Arial"/>
                <a:ea typeface="Arial"/>
                <a:cs typeface="Arial"/>
              </a:defRPr>
            </a:lvl5pPr>
            <a:lvl6pPr>
              <a:defRPr sz="4650" b="1">
                <a:solidFill>
                  <a:srgbClr val="173447"/>
                </a:solidFill>
                <a:latin typeface="Arial"/>
                <a:ea typeface="Arial"/>
                <a:cs typeface="Arial"/>
              </a:defRPr>
            </a:lvl6pPr>
            <a:lvl7pPr>
              <a:defRPr sz="4650" b="1">
                <a:solidFill>
                  <a:srgbClr val="173447"/>
                </a:solidFill>
                <a:latin typeface="Arial"/>
                <a:ea typeface="Arial"/>
                <a:cs typeface="Arial"/>
              </a:defRPr>
            </a:lvl7pPr>
            <a:lvl8pPr>
              <a:defRPr sz="4650" b="1">
                <a:solidFill>
                  <a:srgbClr val="173447"/>
                </a:solidFill>
                <a:latin typeface="Arial"/>
                <a:ea typeface="Arial"/>
                <a:cs typeface="Arial"/>
              </a:defRPr>
            </a:lvl8pPr>
            <a:lvl9pPr>
              <a:defRPr sz="4650" b="1">
                <a:solidFill>
                  <a:srgbClr val="173447"/>
                </a:solidFill>
                <a:latin typeface="Arial"/>
                <a:ea typeface="Arial"/>
                <a:cs typeface="Arial"/>
              </a:defRPr>
            </a:lvl9pPr>
          </a:lstStyle>
          <a:p xmlns:a="http://schemas.openxmlformats.org/drawingml/2006/main">
            <a:pPr>
              <a:defRPr sz="4650" b="1">
                <a:solidFill>
                  <a:srgbClr val="173447"/>
                </a:solidFill>
                <a:latin typeface="Arial"/>
                <a:ea typeface="Arial"/>
                <a:cs typeface="Arial"/>
              </a:defRPr>
            </a:pPr>
            <a:r>
              <a:rPr sz="4650" b="1">
                <a:solidFill>
                  <a:srgbClr val="173447"/>
                </a:solidFill>
                <a:latin typeface="Arial"/>
                <a:ea typeface="Arial"/>
                <a:cs typeface="Arial"/>
              </a:rPr>
              <a:t>Priorización de tareas</a:t>
            </a:r>
          </a:p>
          <a:p xmlns:a="http://schemas.openxmlformats.org/drawingml/2006/main">
            <a:pPr>
              <a:defRPr sz="4650" b="1">
                <a:solidFill>
                  <a:srgbClr val="173447"/>
                </a:solidFill>
                <a:latin typeface="Arial"/>
                <a:ea typeface="Arial"/>
                <a:cs typeface="Arial"/>
              </a:defRPr>
            </a:pPr>
            <a:r>
              <a:rPr sz="4650" b="1">
                <a:solidFill>
                  <a:srgbClr val="173447"/>
                </a:solidFill>
                <a:latin typeface="Arial"/>
                <a:ea typeface="Arial"/>
                <a:cs typeface="Arial"/>
              </a:rPr>
              <a:t>con Qwen3.5-4B</a:t>
            </a:r>
          </a:p>
        </p:txBody>
      </p:sp>
      <p:sp>
        <p:nvSpPr>
          <p:cNvPr id="2" name="">
            <a:extLst xmlns:a="http://schemas.openxmlformats.org/drawingml/2006/main">
              <a:ext uri="{FF2B5EF4-FFF2-40B4-BE49-F238E27FC236}">
                <a16:creationId xmlns:a16="http://schemas.microsoft.com/office/drawing/2014/main" id="{9905BB25-E996-4297-9F26-094E8BC809F6}"/>
              </a:ext>
            </a:extLst>
          </p:cNvPr>
          <p:cNvSpPr>
            <a:spLocks xmlns:a="http://schemas.openxmlformats.org/drawingml/2006/main" noGrp="1"/>
          </p:cNvSpPr>
          <p:nvPr/>
        </p:nvSpPr>
        <p:spPr>
          <a:xfrm xmlns:a="http://schemas.openxmlformats.org/drawingml/2006/main">
            <a:off x="647700" y="38100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7C80"/>
                </a:solidFill>
                <a:latin typeface="Arial"/>
                <a:ea typeface="Arial"/>
                <a:cs typeface="Arial"/>
              </a:defRPr>
            </a:defPPr>
            <a:lvl1pPr>
              <a:defRPr sz="2325" b="0">
                <a:solidFill>
                  <a:srgbClr val="167C80"/>
                </a:solidFill>
                <a:latin typeface="Arial"/>
                <a:ea typeface="Arial"/>
                <a:cs typeface="Arial"/>
              </a:defRPr>
            </a:lvl1pPr>
            <a:lvl2pPr>
              <a:defRPr sz="2325" b="0">
                <a:solidFill>
                  <a:srgbClr val="167C80"/>
                </a:solidFill>
                <a:latin typeface="Arial"/>
                <a:ea typeface="Arial"/>
                <a:cs typeface="Arial"/>
              </a:defRPr>
            </a:lvl2pPr>
            <a:lvl3pPr>
              <a:defRPr sz="2325" b="0">
                <a:solidFill>
                  <a:srgbClr val="167C80"/>
                </a:solidFill>
                <a:latin typeface="Arial"/>
                <a:ea typeface="Arial"/>
                <a:cs typeface="Arial"/>
              </a:defRPr>
            </a:lvl3pPr>
            <a:lvl4pPr>
              <a:defRPr sz="2325" b="0">
                <a:solidFill>
                  <a:srgbClr val="167C80"/>
                </a:solidFill>
                <a:latin typeface="Arial"/>
                <a:ea typeface="Arial"/>
                <a:cs typeface="Arial"/>
              </a:defRPr>
            </a:lvl4pPr>
            <a:lvl5pPr>
              <a:defRPr sz="2325" b="0">
                <a:solidFill>
                  <a:srgbClr val="167C80"/>
                </a:solidFill>
                <a:latin typeface="Arial"/>
                <a:ea typeface="Arial"/>
                <a:cs typeface="Arial"/>
              </a:defRPr>
            </a:lvl5pPr>
            <a:lvl6pPr>
              <a:defRPr sz="2325" b="0">
                <a:solidFill>
                  <a:srgbClr val="167C80"/>
                </a:solidFill>
                <a:latin typeface="Arial"/>
                <a:ea typeface="Arial"/>
                <a:cs typeface="Arial"/>
              </a:defRPr>
            </a:lvl6pPr>
            <a:lvl7pPr>
              <a:defRPr sz="2325" b="0">
                <a:solidFill>
                  <a:srgbClr val="167C80"/>
                </a:solidFill>
                <a:latin typeface="Arial"/>
                <a:ea typeface="Arial"/>
                <a:cs typeface="Arial"/>
              </a:defRPr>
            </a:lvl7pPr>
            <a:lvl8pPr>
              <a:defRPr sz="2325" b="0">
                <a:solidFill>
                  <a:srgbClr val="167C80"/>
                </a:solidFill>
                <a:latin typeface="Arial"/>
                <a:ea typeface="Arial"/>
                <a:cs typeface="Arial"/>
              </a:defRPr>
            </a:lvl8pPr>
            <a:lvl9pPr>
              <a:defRPr sz="2325" b="0">
                <a:solidFill>
                  <a:srgbClr val="167C80"/>
                </a:solidFill>
                <a:latin typeface="Arial"/>
                <a:ea typeface="Arial"/>
                <a:cs typeface="Arial"/>
              </a:defRPr>
            </a:lvl9pPr>
          </a:lstStyle>
          <a:p xmlns:a="http://schemas.openxmlformats.org/drawingml/2006/main">
            <a:pPr>
              <a:defRPr sz="2325" b="0">
                <a:solidFill>
                  <a:srgbClr val="167C80"/>
                </a:solidFill>
                <a:latin typeface="Arial"/>
                <a:ea typeface="Arial"/>
                <a:cs typeface="Arial"/>
              </a:defRPr>
            </a:pPr>
            <a:r>
              <a:rPr sz="2325" b="0">
                <a:solidFill>
                  <a:srgbClr val="167C80"/>
                </a:solidFill>
                <a:latin typeface="Arial"/>
                <a:ea typeface="Arial"/>
                <a:cs typeface="Arial"/>
              </a:rPr>
              <a:t>Diseño factorial duplicado y comparación de métodos PEFT</a:t>
            </a:r>
          </a:p>
        </p:txBody>
      </p:sp>
      <p:sp>
        <p:nvSpPr>
          <p:cNvPr id="3" name="">
            <a:extLst xmlns:a="http://schemas.openxmlformats.org/drawingml/2006/main">
              <a:ext uri="{FF2B5EF4-FFF2-40B4-BE49-F238E27FC236}">
                <a16:creationId xmlns:a16="http://schemas.microsoft.com/office/drawing/2014/main" id="{6E260DD8-ECB7-4571-BF04-C96BD72F5C8A}"/>
              </a:ext>
            </a:extLst>
          </p:cNvPr>
          <p:cNvSpPr>
            <a:spLocks xmlns:a="http://schemas.openxmlformats.org/drawingml/2006/main" noGrp="1"/>
          </p:cNvSpPr>
          <p:nvPr/>
        </p:nvSpPr>
        <p:spPr>
          <a:xfrm xmlns:a="http://schemas.openxmlformats.org/drawingml/2006/main">
            <a:off x="647700" y="51720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A6B7C"/>
                </a:solidFill>
                <a:latin typeface="Arial"/>
                <a:ea typeface="Arial"/>
                <a:cs typeface="Arial"/>
              </a:defRPr>
            </a:defPPr>
            <a:lvl1pPr>
              <a:defRPr sz="1875" b="0">
                <a:solidFill>
                  <a:srgbClr val="5A6B7C"/>
                </a:solidFill>
                <a:latin typeface="Arial"/>
                <a:ea typeface="Arial"/>
                <a:cs typeface="Arial"/>
              </a:defRPr>
            </a:lvl1pPr>
            <a:lvl2pPr>
              <a:defRPr sz="1875" b="0">
                <a:solidFill>
                  <a:srgbClr val="5A6B7C"/>
                </a:solidFill>
                <a:latin typeface="Arial"/>
                <a:ea typeface="Arial"/>
                <a:cs typeface="Arial"/>
              </a:defRPr>
            </a:lvl2pPr>
            <a:lvl3pPr>
              <a:defRPr sz="1875" b="0">
                <a:solidFill>
                  <a:srgbClr val="5A6B7C"/>
                </a:solidFill>
                <a:latin typeface="Arial"/>
                <a:ea typeface="Arial"/>
                <a:cs typeface="Arial"/>
              </a:defRPr>
            </a:lvl3pPr>
            <a:lvl4pPr>
              <a:defRPr sz="1875" b="0">
                <a:solidFill>
                  <a:srgbClr val="5A6B7C"/>
                </a:solidFill>
                <a:latin typeface="Arial"/>
                <a:ea typeface="Arial"/>
                <a:cs typeface="Arial"/>
              </a:defRPr>
            </a:lvl4pPr>
            <a:lvl5pPr>
              <a:defRPr sz="1875" b="0">
                <a:solidFill>
                  <a:srgbClr val="5A6B7C"/>
                </a:solidFill>
                <a:latin typeface="Arial"/>
                <a:ea typeface="Arial"/>
                <a:cs typeface="Arial"/>
              </a:defRPr>
            </a:lvl5pPr>
            <a:lvl6pPr>
              <a:defRPr sz="1875" b="0">
                <a:solidFill>
                  <a:srgbClr val="5A6B7C"/>
                </a:solidFill>
                <a:latin typeface="Arial"/>
                <a:ea typeface="Arial"/>
                <a:cs typeface="Arial"/>
              </a:defRPr>
            </a:lvl6pPr>
            <a:lvl7pPr>
              <a:defRPr sz="1875" b="0">
                <a:solidFill>
                  <a:srgbClr val="5A6B7C"/>
                </a:solidFill>
                <a:latin typeface="Arial"/>
                <a:ea typeface="Arial"/>
                <a:cs typeface="Arial"/>
              </a:defRPr>
            </a:lvl7pPr>
            <a:lvl8pPr>
              <a:defRPr sz="1875" b="0">
                <a:solidFill>
                  <a:srgbClr val="5A6B7C"/>
                </a:solidFill>
                <a:latin typeface="Arial"/>
                <a:ea typeface="Arial"/>
                <a:cs typeface="Arial"/>
              </a:defRPr>
            </a:lvl8pPr>
            <a:lvl9pPr>
              <a:defRPr sz="1875" b="0">
                <a:solidFill>
                  <a:srgbClr val="5A6B7C"/>
                </a:solidFill>
                <a:latin typeface="Arial"/>
                <a:ea typeface="Arial"/>
                <a:cs typeface="Arial"/>
              </a:defRPr>
            </a:lvl9pPr>
          </a:lstStyle>
          <a:p xmlns:a="http://schemas.openxmlformats.org/drawingml/2006/main">
            <a:pPr>
              <a:defRPr sz="1875" b="0">
                <a:solidFill>
                  <a:srgbClr val="5A6B7C"/>
                </a:solidFill>
                <a:latin typeface="Arial"/>
                <a:ea typeface="Arial"/>
                <a:cs typeface="Arial"/>
              </a:defRPr>
            </a:pPr>
            <a:r>
              <a:rPr sz="1875" b="0">
                <a:solidFill>
                  <a:srgbClr val="5A6B7C"/>
                </a:solidFill>
                <a:latin typeface="Arial"/>
                <a:ea typeface="Arial"/>
                <a:cs typeface="Arial"/>
              </a:rPr>
              <a:t>Hackathon 8</a:t>
            </a:r>
          </a:p>
          <a:p xmlns:a="http://schemas.openxmlformats.org/drawingml/2006/main">
            <a:pPr>
              <a:defRPr sz="1875" b="0">
                <a:solidFill>
                  <a:srgbClr val="5A6B7C"/>
                </a:solidFill>
                <a:latin typeface="Arial"/>
                <a:ea typeface="Arial"/>
                <a:cs typeface="Arial"/>
              </a:defRPr>
            </a:pPr>
            <a:r>
              <a:rPr sz="1875" b="0">
                <a:solidFill>
                  <a:srgbClr val="5A6B7C"/>
                </a:solidFill>
                <a:latin typeface="Arial"/>
                <a:ea typeface="Arial"/>
                <a:cs typeface="Arial"/>
              </a:rPr>
              <a:t>Ejecución en el HPC Khipu de UTEC</a:t>
            </a:r>
          </a:p>
        </p:txBody>
      </p:sp>
    </p:spTree>
    <p:extLst>
      <p:ext uri="{BB962C8B-B14F-4D97-AF65-F5344CB8AC3E}">
        <p14:creationId xmlns:p14="http://schemas.microsoft.com/office/powerpoint/2010/main" val="1962555660"/>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A0E6433-2B3A-4127-8F12-82AC3CCD17E6}"/>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Priorizar según hechos y consecuencias</a:t>
            </a:r>
          </a:p>
        </p:txBody>
      </p:sp>
      <p:graphicFrame>
        <p:nvGraphicFramePr>
          <p:cNvPr id="2" name="">
            <a:extLst xmlns:a="http://schemas.openxmlformats.org/drawingml/2006/main">
              <a:ext uri="{FF2B5EF4-FFF2-40B4-BE49-F238E27FC236}">
                <a16:creationId xmlns:a16="http://schemas.microsoft.com/office/drawing/2014/main" id="{413283BB-32AE-4707-88CC-8CCFC4555183}"/>
              </a:ext>
            </a:extLst>
          </p:cNvPr>
          <p:cNvGraphicFramePr/>
          <p:nvPr/>
        </p:nvGraphicFramePr>
        <p:xfrm>
          <a:off xmlns:a="http://schemas.openxmlformats.org/drawingml/2006/main" x="609600" y="1581150"/>
          <a:ext xmlns:a="http://schemas.openxmlformats.org/drawingml/2006/main" cx="10972800" cy="3524250"/>
        </p:xfrm>
        <a:graphic xmlns:a="http://schemas.openxmlformats.org/drawingml/2006/main">
          <a:graphicData uri="http://schemas.openxmlformats.org/drawingml/2006/table">
            <a:tbl>
              <a:tblPr/>
              <a:tblGrid>
                <a:gridCol w="2000250"/>
                <a:gridCol w="8972550"/>
              </a:tblGrid>
              <a:tr h="704850">
                <a:tc>
                  <a:txBody>
                    <a:bodyPr/>
                    <a:lstStyle/>
                    <a:p>
                      <a:r>
                        <a:rPr sz="1725" b="1">
                          <a:solidFill>
                            <a:srgbClr val="167C80"/>
                          </a:solidFill>
                          <a:latin typeface="Arial"/>
                          <a:ea typeface="Arial"/>
                          <a:cs typeface="Arial"/>
                        </a:rPr>
                        <a:t>Prioridad</a:t>
                      </a:r>
                    </a:p>
                  </a:txBody>
                  <a:tcPr marL="133350" marR="133350" marT="114300" marB="114300">
                    <a:lnL w="9525">
                      <a:solidFill>
                        <a:srgbClr val="DDE5EA"/>
                      </a:solidFill>
                      <a:prstDash val="solid"/>
                    </a:lnL>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Criterio aplicado en orden</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r>
              <a:tr h="704850">
                <a:tc>
                  <a:txBody>
                    <a:bodyPr/>
                    <a:lstStyle/>
                    <a:p>
                      <a:r>
                        <a:rPr sz="1800">
                          <a:solidFill>
                            <a:srgbClr val="173447"/>
                          </a:solidFill>
                          <a:latin typeface="Arial"/>
                          <a:ea typeface="Arial"/>
                          <a:cs typeface="Arial"/>
                        </a:rPr>
                        <a:t>Crítica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Riesgo activo o interrupción amplia sin alternativa</a:t>
                      </a:r>
                    </a:p>
                  </a:txBody>
                  <a:tcPr marL="133350" marR="133350" marT="114300" marB="114300">
                    <a:lnR w="9525">
                      <a:solidFill>
                        <a:srgbClr val="DDE5EA"/>
                      </a:solidFill>
                      <a:prstDash val="solid"/>
                    </a:lnR>
                    <a:lnB w="9525">
                      <a:solidFill>
                        <a:srgbClr val="DDE5EA"/>
                      </a:solidFill>
                      <a:prstDash val="solid"/>
                    </a:lnB>
                  </a:tcPr>
                </a:tc>
              </a:tr>
              <a:tr h="704850">
                <a:tc>
                  <a:txBody>
                    <a:bodyPr/>
                    <a:lstStyle/>
                    <a:p>
                      <a:r>
                        <a:rPr sz="1800">
                          <a:solidFill>
                            <a:srgbClr val="173447"/>
                          </a:solidFill>
                          <a:latin typeface="Arial"/>
                          <a:ea typeface="Arial"/>
                          <a:cs typeface="Arial"/>
                        </a:rPr>
                        <a:t>Alta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Plazo cercano con impacto o dependencias; impacto alto sin alternativa</a:t>
                      </a:r>
                    </a:p>
                  </a:txBody>
                  <a:tcPr marL="133350" marR="133350" marT="114300" marB="114300">
                    <a:lnR w="9525">
                      <a:solidFill>
                        <a:srgbClr val="DDE5EA"/>
                      </a:solidFill>
                      <a:prstDash val="solid"/>
                    </a:lnR>
                    <a:lnB w="9525">
                      <a:solidFill>
                        <a:srgbClr val="DDE5EA"/>
                      </a:solidFill>
                      <a:prstDash val="solid"/>
                    </a:lnB>
                  </a:tcPr>
                </a:tc>
              </a:tr>
              <a:tr h="704850">
                <a:tc>
                  <a:txBody>
                    <a:bodyPr/>
                    <a:lstStyle/>
                    <a:p>
                      <a:r>
                        <a:rPr sz="1800">
                          <a:solidFill>
                            <a:srgbClr val="173447"/>
                          </a:solidFill>
                          <a:latin typeface="Arial"/>
                          <a:ea typeface="Arial"/>
                          <a:cs typeface="Arial"/>
                        </a:rPr>
                        <a:t>Media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Plazo de hasta 48 h, impacto medio/alto o dependencias</a:t>
                      </a:r>
                    </a:p>
                  </a:txBody>
                  <a:tcPr marL="133350" marR="133350" marT="114300" marB="114300">
                    <a:lnR w="9525">
                      <a:solidFill>
                        <a:srgbClr val="DDE5EA"/>
                      </a:solidFill>
                      <a:prstDash val="solid"/>
                    </a:lnR>
                    <a:lnB w="9525">
                      <a:solidFill>
                        <a:srgbClr val="DDE5EA"/>
                      </a:solidFill>
                      <a:prstDash val="solid"/>
                    </a:lnB>
                  </a:tcPr>
                </a:tc>
              </a:tr>
              <a:tr h="704850">
                <a:tc>
                  <a:txBody>
                    <a:bodyPr/>
                    <a:lstStyle/>
                    <a:p>
                      <a:r>
                        <a:rPr sz="1800">
                          <a:solidFill>
                            <a:srgbClr val="173447"/>
                          </a:solidFill>
                          <a:latin typeface="Arial"/>
                          <a:ea typeface="Arial"/>
                          <a:cs typeface="Arial"/>
                        </a:rPr>
                        <a:t>Baja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Demás casos</a:t>
                      </a:r>
                    </a:p>
                  </a:txBody>
                  <a:tcPr marL="133350" marR="133350" marT="114300" marB="114300">
                    <a:lnR w="9525">
                      <a:solidFill>
                        <a:srgbClr val="DDE5EA"/>
                      </a:solidFill>
                      <a:prstDash val="solid"/>
                    </a:lnR>
                    <a:lnB w="9525">
                      <a:solidFill>
                        <a:srgbClr val="DDE5EA"/>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DF4FF7DC-F9A2-4E13-9979-FA4338E26C57}"/>
              </a:ext>
            </a:extLst>
          </p:cNvPr>
          <p:cNvSpPr>
            <a:spLocks xmlns:a="http://schemas.openxmlformats.org/drawingml/2006/main" noGrp="1"/>
          </p:cNvSpPr>
          <p:nvPr/>
        </p:nvSpPr>
        <p:spPr>
          <a:xfrm xmlns:a="http://schemas.openxmlformats.org/drawingml/2006/main">
            <a:off x="647700" y="55626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C80"/>
                </a:solidFill>
                <a:latin typeface="Arial"/>
                <a:ea typeface="Arial"/>
                <a:cs typeface="Arial"/>
              </a:defRPr>
            </a:defPPr>
            <a:lvl1pPr>
              <a:defRPr sz="2100" b="1">
                <a:solidFill>
                  <a:srgbClr val="167C80"/>
                </a:solidFill>
                <a:latin typeface="Arial"/>
                <a:ea typeface="Arial"/>
                <a:cs typeface="Arial"/>
              </a:defRPr>
            </a:lvl1pPr>
            <a:lvl2pPr>
              <a:defRPr sz="2100" b="1">
                <a:solidFill>
                  <a:srgbClr val="167C80"/>
                </a:solidFill>
                <a:latin typeface="Arial"/>
                <a:ea typeface="Arial"/>
                <a:cs typeface="Arial"/>
              </a:defRPr>
            </a:lvl2pPr>
            <a:lvl3pPr>
              <a:defRPr sz="2100" b="1">
                <a:solidFill>
                  <a:srgbClr val="167C80"/>
                </a:solidFill>
                <a:latin typeface="Arial"/>
                <a:ea typeface="Arial"/>
                <a:cs typeface="Arial"/>
              </a:defRPr>
            </a:lvl3pPr>
            <a:lvl4pPr>
              <a:defRPr sz="2100" b="1">
                <a:solidFill>
                  <a:srgbClr val="167C80"/>
                </a:solidFill>
                <a:latin typeface="Arial"/>
                <a:ea typeface="Arial"/>
                <a:cs typeface="Arial"/>
              </a:defRPr>
            </a:lvl4pPr>
            <a:lvl5pPr>
              <a:defRPr sz="2100" b="1">
                <a:solidFill>
                  <a:srgbClr val="167C80"/>
                </a:solidFill>
                <a:latin typeface="Arial"/>
                <a:ea typeface="Arial"/>
                <a:cs typeface="Arial"/>
              </a:defRPr>
            </a:lvl5pPr>
            <a:lvl6pPr>
              <a:defRPr sz="2100" b="1">
                <a:solidFill>
                  <a:srgbClr val="167C80"/>
                </a:solidFill>
                <a:latin typeface="Arial"/>
                <a:ea typeface="Arial"/>
                <a:cs typeface="Arial"/>
              </a:defRPr>
            </a:lvl6pPr>
            <a:lvl7pPr>
              <a:defRPr sz="2100" b="1">
                <a:solidFill>
                  <a:srgbClr val="167C80"/>
                </a:solidFill>
                <a:latin typeface="Arial"/>
                <a:ea typeface="Arial"/>
                <a:cs typeface="Arial"/>
              </a:defRPr>
            </a:lvl7pPr>
            <a:lvl8pPr>
              <a:defRPr sz="2100" b="1">
                <a:solidFill>
                  <a:srgbClr val="167C80"/>
                </a:solidFill>
                <a:latin typeface="Arial"/>
                <a:ea typeface="Arial"/>
                <a:cs typeface="Arial"/>
              </a:defRPr>
            </a:lvl8pPr>
            <a:lvl9pPr>
              <a:defRPr sz="2100" b="1">
                <a:solidFill>
                  <a:srgbClr val="167C80"/>
                </a:solidFill>
                <a:latin typeface="Arial"/>
                <a:ea typeface="Arial"/>
                <a:cs typeface="Arial"/>
              </a:defRPr>
            </a:lvl9pPr>
          </a:lstStyle>
          <a:p xmlns:a="http://schemas.openxmlformats.org/drawingml/2006/main">
            <a:pPr>
              <a:defRPr sz="2100" b="1">
                <a:solidFill>
                  <a:srgbClr val="167C80"/>
                </a:solidFill>
                <a:latin typeface="Arial"/>
                <a:ea typeface="Arial"/>
                <a:cs typeface="Arial"/>
              </a:defRPr>
            </a:pPr>
            <a:r>
              <a:rPr sz="2100" b="1">
                <a:solidFill>
                  <a:srgbClr val="167C80"/>
                </a:solidFill>
                <a:latin typeface="Arial"/>
                <a:ea typeface="Arial"/>
                <a:cs typeface="Arial"/>
              </a:rPr>
              <a:t>JSON verificable: prioridad, escalamiento, bloqueo y criterio decisivo.</a:t>
            </a:r>
          </a:p>
        </p:txBody>
      </p:sp>
    </p:spTree>
    <p:extLst>
      <p:ext uri="{BB962C8B-B14F-4D97-AF65-F5344CB8AC3E}">
        <p14:creationId xmlns:p14="http://schemas.microsoft.com/office/powerpoint/2010/main" val="1660861664"/>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B769E29-FEE7-47CB-B1C4-A758DC63763E}"/>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Datos separados para decidir y comprobar</a:t>
            </a:r>
          </a:p>
        </p:txBody>
      </p:sp>
      <p:graphicFrame>
        <p:nvGraphicFramePr>
          <p:cNvPr id="2" name="">
            <a:extLst xmlns:a="http://schemas.openxmlformats.org/drawingml/2006/main">
              <a:ext uri="{FF2B5EF4-FFF2-40B4-BE49-F238E27FC236}">
                <a16:creationId xmlns:a16="http://schemas.microsoft.com/office/drawing/2014/main" id="{6294EC16-D49C-4BEA-B397-79219EA72BC6}"/>
              </a:ext>
            </a:extLst>
          </p:cNvPr>
          <p:cNvGraphicFramePr/>
          <p:nvPr/>
        </p:nvGraphicFramePr>
        <p:xfrm>
          <a:off xmlns:a="http://schemas.openxmlformats.org/drawingml/2006/main" x="609600" y="1619250"/>
          <a:ext xmlns:a="http://schemas.openxmlformats.org/drawingml/2006/main" cx="10972800" cy="3286125"/>
        </p:xfrm>
        <a:graphic xmlns:a="http://schemas.openxmlformats.org/drawingml/2006/main">
          <a:graphicData uri="http://schemas.openxmlformats.org/drawingml/2006/table">
            <a:tbl>
              <a:tblPr/>
              <a:tblGrid>
                <a:gridCol w="2952750"/>
                <a:gridCol w="1809750"/>
                <a:gridCol w="6210300"/>
              </a:tblGrid>
              <a:tr h="657225">
                <a:tc>
                  <a:txBody>
                    <a:bodyPr/>
                    <a:lstStyle/>
                    <a:p>
                      <a:r>
                        <a:rPr sz="1725" b="1">
                          <a:solidFill>
                            <a:srgbClr val="167C80"/>
                          </a:solidFill>
                          <a:latin typeface="Arial"/>
                          <a:ea typeface="Arial"/>
                          <a:cs typeface="Arial"/>
                        </a:rPr>
                        <a:t>Partición</a:t>
                      </a:r>
                    </a:p>
                  </a:txBody>
                  <a:tcPr marL="133350" marR="133350" marT="114300" marB="114300">
                    <a:lnL w="9525">
                      <a:solidFill>
                        <a:srgbClr val="DDE5EA"/>
                      </a:solidFill>
                      <a:prstDash val="solid"/>
                    </a:lnL>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Ejemplos</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Uso</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r>
              <a:tr h="657225">
                <a:tc>
                  <a:txBody>
                    <a:bodyPr/>
                    <a:lstStyle/>
                    <a:p>
                      <a:r>
                        <a:rPr sz="1800">
                          <a:solidFill>
                            <a:srgbClr val="173447"/>
                          </a:solidFill>
                          <a:latin typeface="Arial"/>
                          <a:ea typeface="Arial"/>
                          <a:cs typeface="Arial"/>
                        </a:rPr>
                        <a:t>Entrenamiento</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256</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Aprender los adaptadores</a:t>
                      </a:r>
                    </a:p>
                  </a:txBody>
                  <a:tcPr marL="133350" marR="133350" marT="114300" marB="114300">
                    <a:lnR w="9525">
                      <a:solidFill>
                        <a:srgbClr val="DDE5EA"/>
                      </a:solidFill>
                      <a:prstDash val="solid"/>
                    </a:lnR>
                    <a:lnB w="9525">
                      <a:solidFill>
                        <a:srgbClr val="DDE5EA"/>
                      </a:solidFill>
                      <a:prstDash val="solid"/>
                    </a:lnB>
                  </a:tcPr>
                </a:tc>
              </a:tr>
              <a:tr h="657225">
                <a:tc>
                  <a:txBody>
                    <a:bodyPr/>
                    <a:lstStyle/>
                    <a:p>
                      <a:r>
                        <a:rPr sz="1800">
                          <a:solidFill>
                            <a:srgbClr val="173447"/>
                          </a:solidFill>
                          <a:latin typeface="Arial"/>
                          <a:ea typeface="Arial"/>
                          <a:cs typeface="Arial"/>
                        </a:rPr>
                        <a:t>Validación</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48</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Seleccionar hiperparámetros y ajustar la regresión</a:t>
                      </a:r>
                    </a:p>
                  </a:txBody>
                  <a:tcPr marL="133350" marR="133350" marT="114300" marB="114300">
                    <a:lnR w="9525">
                      <a:solidFill>
                        <a:srgbClr val="DDE5EA"/>
                      </a:solidFill>
                      <a:prstDash val="solid"/>
                    </a:lnR>
                    <a:lnB w="9525">
                      <a:solidFill>
                        <a:srgbClr val="DDE5EA"/>
                      </a:solidFill>
                      <a:prstDash val="solid"/>
                    </a:lnB>
                  </a:tcPr>
                </a:tc>
              </a:tr>
              <a:tr h="657225">
                <a:tc>
                  <a:txBody>
                    <a:bodyPr/>
                    <a:lstStyle/>
                    <a:p>
                      <a:r>
                        <a:rPr sz="1800">
                          <a:solidFill>
                            <a:srgbClr val="173447"/>
                          </a:solidFill>
                          <a:latin typeface="Arial"/>
                          <a:ea typeface="Arial"/>
                          <a:cs typeface="Arial"/>
                        </a:rPr>
                        <a:t>Prueba + difíciles</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64 + 16</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Describir desempeño y errores</a:t>
                      </a:r>
                    </a:p>
                  </a:txBody>
                  <a:tcPr marL="133350" marR="133350" marT="114300" marB="114300">
                    <a:lnR w="9525">
                      <a:solidFill>
                        <a:srgbClr val="DDE5EA"/>
                      </a:solidFill>
                      <a:prstDash val="solid"/>
                    </a:lnR>
                    <a:lnB w="9525">
                      <a:solidFill>
                        <a:srgbClr val="DDE5EA"/>
                      </a:solidFill>
                      <a:prstDash val="solid"/>
                    </a:lnB>
                  </a:tcPr>
                </a:tc>
              </a:tr>
              <a:tr h="657225">
                <a:tc>
                  <a:txBody>
                    <a:bodyPr/>
                    <a:lstStyle/>
                    <a:p>
                      <a:r>
                        <a:rPr sz="1800">
                          <a:solidFill>
                            <a:srgbClr val="173447"/>
                          </a:solidFill>
                          <a:latin typeface="Arial"/>
                          <a:ea typeface="Arial"/>
                          <a:cs typeface="Arial"/>
                        </a:rPr>
                        <a:t>Confirmación nueva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128</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Comprobar la elección final con familias nuevas</a:t>
                      </a:r>
                    </a:p>
                  </a:txBody>
                  <a:tcPr marL="133350" marR="133350" marT="114300" marB="114300">
                    <a:lnR w="9525">
                      <a:solidFill>
                        <a:srgbClr val="DDE5EA"/>
                      </a:solidFill>
                      <a:prstDash val="solid"/>
                    </a:lnR>
                    <a:lnB w="9525">
                      <a:solidFill>
                        <a:srgbClr val="DDE5EA"/>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5E2729DD-1698-457D-A335-86F7D23F289D}"/>
              </a:ext>
            </a:extLst>
          </p:cNvPr>
          <p:cNvSpPr>
            <a:spLocks xmlns:a="http://schemas.openxmlformats.org/drawingml/2006/main" noGrp="1"/>
          </p:cNvSpPr>
          <p:nvPr/>
        </p:nvSpPr>
        <p:spPr>
          <a:xfrm xmlns:a="http://schemas.openxmlformats.org/drawingml/2006/main">
            <a:off x="647700" y="52482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7C80"/>
                </a:solidFill>
                <a:latin typeface="Arial"/>
                <a:ea typeface="Arial"/>
                <a:cs typeface="Arial"/>
              </a:defRPr>
            </a:defPPr>
            <a:lvl1pPr>
              <a:defRPr sz="2175" b="1">
                <a:solidFill>
                  <a:srgbClr val="167C80"/>
                </a:solidFill>
                <a:latin typeface="Arial"/>
                <a:ea typeface="Arial"/>
                <a:cs typeface="Arial"/>
              </a:defRPr>
            </a:lvl1pPr>
            <a:lvl2pPr>
              <a:defRPr sz="2175" b="1">
                <a:solidFill>
                  <a:srgbClr val="167C80"/>
                </a:solidFill>
                <a:latin typeface="Arial"/>
                <a:ea typeface="Arial"/>
                <a:cs typeface="Arial"/>
              </a:defRPr>
            </a:lvl2pPr>
            <a:lvl3pPr>
              <a:defRPr sz="2175" b="1">
                <a:solidFill>
                  <a:srgbClr val="167C80"/>
                </a:solidFill>
                <a:latin typeface="Arial"/>
                <a:ea typeface="Arial"/>
                <a:cs typeface="Arial"/>
              </a:defRPr>
            </a:lvl3pPr>
            <a:lvl4pPr>
              <a:defRPr sz="2175" b="1">
                <a:solidFill>
                  <a:srgbClr val="167C80"/>
                </a:solidFill>
                <a:latin typeface="Arial"/>
                <a:ea typeface="Arial"/>
                <a:cs typeface="Arial"/>
              </a:defRPr>
            </a:lvl4pPr>
            <a:lvl5pPr>
              <a:defRPr sz="2175" b="1">
                <a:solidFill>
                  <a:srgbClr val="167C80"/>
                </a:solidFill>
                <a:latin typeface="Arial"/>
                <a:ea typeface="Arial"/>
                <a:cs typeface="Arial"/>
              </a:defRPr>
            </a:lvl5pPr>
            <a:lvl6pPr>
              <a:defRPr sz="2175" b="1">
                <a:solidFill>
                  <a:srgbClr val="167C80"/>
                </a:solidFill>
                <a:latin typeface="Arial"/>
                <a:ea typeface="Arial"/>
                <a:cs typeface="Arial"/>
              </a:defRPr>
            </a:lvl6pPr>
            <a:lvl7pPr>
              <a:defRPr sz="2175" b="1">
                <a:solidFill>
                  <a:srgbClr val="167C80"/>
                </a:solidFill>
                <a:latin typeface="Arial"/>
                <a:ea typeface="Arial"/>
                <a:cs typeface="Arial"/>
              </a:defRPr>
            </a:lvl7pPr>
            <a:lvl8pPr>
              <a:defRPr sz="2175" b="1">
                <a:solidFill>
                  <a:srgbClr val="167C80"/>
                </a:solidFill>
                <a:latin typeface="Arial"/>
                <a:ea typeface="Arial"/>
                <a:cs typeface="Arial"/>
              </a:defRPr>
            </a:lvl8pPr>
            <a:lvl9pPr>
              <a:defRPr sz="2175" b="1">
                <a:solidFill>
                  <a:srgbClr val="167C80"/>
                </a:solidFill>
                <a:latin typeface="Arial"/>
                <a:ea typeface="Arial"/>
                <a:cs typeface="Arial"/>
              </a:defRPr>
            </a:lvl9pPr>
          </a:lstStyle>
          <a:p xmlns:a="http://schemas.openxmlformats.org/drawingml/2006/main">
            <a:pPr>
              <a:defRPr sz="2175" b="1">
                <a:solidFill>
                  <a:srgbClr val="167C80"/>
                </a:solidFill>
                <a:latin typeface="Arial"/>
                <a:ea typeface="Arial"/>
                <a:cs typeface="Arial"/>
              </a:defRPr>
            </a:pPr>
            <a:r>
              <a:rPr sz="2175" b="1">
                <a:solidFill>
                  <a:srgbClr val="167C80"/>
                </a:solidFill>
                <a:latin typeface="Arial"/>
                <a:ea typeface="Arial"/>
                <a:cs typeface="Arial"/>
              </a:rPr>
              <a:t>Todos sintéticos, en español y equilibrados entre cuatro clases.</a:t>
            </a:r>
          </a:p>
        </p:txBody>
      </p:sp>
      <p:sp>
        <p:nvSpPr>
          <p:cNvPr id="4" name="">
            <a:extLst xmlns:a="http://schemas.openxmlformats.org/drawingml/2006/main">
              <a:ext uri="{FF2B5EF4-FFF2-40B4-BE49-F238E27FC236}">
                <a16:creationId xmlns:a16="http://schemas.microsoft.com/office/drawing/2014/main" id="{F2D6A656-2206-4E1A-915C-CF2E1CE05BEA}"/>
              </a:ext>
            </a:extLst>
          </p:cNvPr>
          <p:cNvSpPr>
            <a:spLocks xmlns:a="http://schemas.openxmlformats.org/drawingml/2006/main" noGrp="1"/>
          </p:cNvSpPr>
          <p:nvPr/>
        </p:nvSpPr>
        <p:spPr>
          <a:xfrm xmlns:a="http://schemas.openxmlformats.org/drawingml/2006/main">
            <a:off x="647700" y="59531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A6B7C"/>
                </a:solidFill>
                <a:latin typeface="Arial"/>
                <a:ea typeface="Arial"/>
                <a:cs typeface="Arial"/>
              </a:defRPr>
            </a:defPPr>
            <a:lvl1pPr>
              <a:defRPr sz="1875" b="0">
                <a:solidFill>
                  <a:srgbClr val="5A6B7C"/>
                </a:solidFill>
                <a:latin typeface="Arial"/>
                <a:ea typeface="Arial"/>
                <a:cs typeface="Arial"/>
              </a:defRPr>
            </a:lvl1pPr>
            <a:lvl2pPr>
              <a:defRPr sz="1875" b="0">
                <a:solidFill>
                  <a:srgbClr val="5A6B7C"/>
                </a:solidFill>
                <a:latin typeface="Arial"/>
                <a:ea typeface="Arial"/>
                <a:cs typeface="Arial"/>
              </a:defRPr>
            </a:lvl2pPr>
            <a:lvl3pPr>
              <a:defRPr sz="1875" b="0">
                <a:solidFill>
                  <a:srgbClr val="5A6B7C"/>
                </a:solidFill>
                <a:latin typeface="Arial"/>
                <a:ea typeface="Arial"/>
                <a:cs typeface="Arial"/>
              </a:defRPr>
            </a:lvl3pPr>
            <a:lvl4pPr>
              <a:defRPr sz="1875" b="0">
                <a:solidFill>
                  <a:srgbClr val="5A6B7C"/>
                </a:solidFill>
                <a:latin typeface="Arial"/>
                <a:ea typeface="Arial"/>
                <a:cs typeface="Arial"/>
              </a:defRPr>
            </a:lvl4pPr>
            <a:lvl5pPr>
              <a:defRPr sz="1875" b="0">
                <a:solidFill>
                  <a:srgbClr val="5A6B7C"/>
                </a:solidFill>
                <a:latin typeface="Arial"/>
                <a:ea typeface="Arial"/>
                <a:cs typeface="Arial"/>
              </a:defRPr>
            </a:lvl5pPr>
            <a:lvl6pPr>
              <a:defRPr sz="1875" b="0">
                <a:solidFill>
                  <a:srgbClr val="5A6B7C"/>
                </a:solidFill>
                <a:latin typeface="Arial"/>
                <a:ea typeface="Arial"/>
                <a:cs typeface="Arial"/>
              </a:defRPr>
            </a:lvl6pPr>
            <a:lvl7pPr>
              <a:defRPr sz="1875" b="0">
                <a:solidFill>
                  <a:srgbClr val="5A6B7C"/>
                </a:solidFill>
                <a:latin typeface="Arial"/>
                <a:ea typeface="Arial"/>
                <a:cs typeface="Arial"/>
              </a:defRPr>
            </a:lvl7pPr>
            <a:lvl8pPr>
              <a:defRPr sz="1875" b="0">
                <a:solidFill>
                  <a:srgbClr val="5A6B7C"/>
                </a:solidFill>
                <a:latin typeface="Arial"/>
                <a:ea typeface="Arial"/>
                <a:cs typeface="Arial"/>
              </a:defRPr>
            </a:lvl8pPr>
            <a:lvl9pPr>
              <a:defRPr sz="1875" b="0">
                <a:solidFill>
                  <a:srgbClr val="5A6B7C"/>
                </a:solidFill>
                <a:latin typeface="Arial"/>
                <a:ea typeface="Arial"/>
                <a:cs typeface="Arial"/>
              </a:defRPr>
            </a:lvl9pPr>
          </a:lstStyle>
          <a:p xmlns:a="http://schemas.openxmlformats.org/drawingml/2006/main">
            <a:pPr>
              <a:defRPr sz="1875" b="0">
                <a:solidFill>
                  <a:srgbClr val="5A6B7C"/>
                </a:solidFill>
                <a:latin typeface="Arial"/>
                <a:ea typeface="Arial"/>
                <a:cs typeface="Arial"/>
              </a:defRPr>
            </a:pPr>
            <a:r>
              <a:rPr sz="1875" b="0">
                <a:solidFill>
                  <a:srgbClr val="5A6B7C"/>
                </a:solidFill>
                <a:latin typeface="Arial"/>
                <a:ea typeface="Arial"/>
                <a:cs typeface="Arial"/>
              </a:rPr>
              <a:t>F1 macro como métrica principal. Una salida inválida cuenta como error.</a:t>
            </a:r>
          </a:p>
        </p:txBody>
      </p:sp>
    </p:spTree>
    <p:extLst>
      <p:ext uri="{BB962C8B-B14F-4D97-AF65-F5344CB8AC3E}">
        <p14:creationId xmlns:p14="http://schemas.microsoft.com/office/powerpoint/2010/main" val="1947345347"/>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8FEC0E-5678-4410-BF23-03D6F0FF4786}"/>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Factorial 3 × 2 con dos réplicas</a:t>
            </a:r>
          </a:p>
        </p:txBody>
      </p:sp>
      <p:graphicFrame>
        <p:nvGraphicFramePr>
          <p:cNvPr id="2" name="">
            <a:extLst xmlns:a="http://schemas.openxmlformats.org/drawingml/2006/main">
              <a:ext uri="{FF2B5EF4-FFF2-40B4-BE49-F238E27FC236}">
                <a16:creationId xmlns:a16="http://schemas.microsoft.com/office/drawing/2014/main" id="{A1630398-9356-4176-B2B1-996DD9242C77}"/>
              </a:ext>
            </a:extLst>
          </p:cNvPr>
          <p:cNvGraphicFramePr/>
          <p:nvPr/>
        </p:nvGraphicFramePr>
        <p:xfrm>
          <a:off xmlns:a="http://schemas.openxmlformats.org/drawingml/2006/main" x="609600" y="1619250"/>
          <a:ext xmlns:a="http://schemas.openxmlformats.org/drawingml/2006/main" cx="10972800" cy="2667000"/>
        </p:xfrm>
        <a:graphic xmlns:a="http://schemas.openxmlformats.org/drawingml/2006/main">
          <a:graphicData uri="http://schemas.openxmlformats.org/drawingml/2006/table">
            <a:tbl>
              <a:tblPr/>
              <a:tblGrid>
                <a:gridCol w="2095500"/>
                <a:gridCol w="4438650"/>
                <a:gridCol w="4438650"/>
              </a:tblGrid>
              <a:tr h="666750">
                <a:tc>
                  <a:txBody>
                    <a:bodyPr/>
                    <a:lstStyle/>
                    <a:p>
                      <a:r>
                        <a:rPr sz="1725" b="1">
                          <a:solidFill>
                            <a:srgbClr val="167C80"/>
                          </a:solidFill>
                          <a:latin typeface="Arial"/>
                          <a:ea typeface="Arial"/>
                          <a:cs typeface="Arial"/>
                        </a:rPr>
                        <a:t>Rango r</a:t>
                      </a:r>
                    </a:p>
                  </a:txBody>
                  <a:tcPr marL="133350" marR="133350" marT="114300" marB="114300">
                    <a:lnL w="9525">
                      <a:solidFill>
                        <a:srgbClr val="DDE5EA"/>
                      </a:solidFill>
                      <a:prstDash val="solid"/>
                    </a:lnL>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alpha = 8</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alpha = 32</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r>
              <a:tr h="666750">
                <a:tc>
                  <a:txBody>
                    <a:bodyPr/>
                    <a:lstStyle/>
                    <a:p>
                      <a:r>
                        <a:rPr sz="1800">
                          <a:solidFill>
                            <a:srgbClr val="173447"/>
                          </a:solidFill>
                          <a:latin typeface="Arial"/>
                          <a:ea typeface="Arial"/>
                          <a:cs typeface="Arial"/>
                        </a:rPr>
                        <a:t>2</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Semillas 42 y 43</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Semillas 42 y 43</a:t>
                      </a:r>
                    </a:p>
                  </a:txBody>
                  <a:tcPr marL="133350" marR="133350" marT="114300" marB="114300">
                    <a:lnR w="9525">
                      <a:solidFill>
                        <a:srgbClr val="DDE5EA"/>
                      </a:solidFill>
                      <a:prstDash val="solid"/>
                    </a:lnR>
                    <a:lnB w="9525">
                      <a:solidFill>
                        <a:srgbClr val="DDE5EA"/>
                      </a:solidFill>
                      <a:prstDash val="solid"/>
                    </a:lnB>
                  </a:tcPr>
                </a:tc>
              </a:tr>
              <a:tr h="666750">
                <a:tc>
                  <a:txBody>
                    <a:bodyPr/>
                    <a:lstStyle/>
                    <a:p>
                      <a:r>
                        <a:rPr sz="1800">
                          <a:solidFill>
                            <a:srgbClr val="173447"/>
                          </a:solidFill>
                          <a:latin typeface="Arial"/>
                          <a:ea typeface="Arial"/>
                          <a:cs typeface="Arial"/>
                        </a:rPr>
                        <a:t>8</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Semillas 42 y 43</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Semillas 42 y 43</a:t>
                      </a:r>
                    </a:p>
                  </a:txBody>
                  <a:tcPr marL="133350" marR="133350" marT="114300" marB="114300">
                    <a:lnR w="9525">
                      <a:solidFill>
                        <a:srgbClr val="DDE5EA"/>
                      </a:solidFill>
                      <a:prstDash val="solid"/>
                    </a:lnR>
                    <a:lnB w="9525">
                      <a:solidFill>
                        <a:srgbClr val="DDE5EA"/>
                      </a:solidFill>
                      <a:prstDash val="solid"/>
                    </a:lnB>
                  </a:tcPr>
                </a:tc>
              </a:tr>
              <a:tr h="666750">
                <a:tc>
                  <a:txBody>
                    <a:bodyPr/>
                    <a:lstStyle/>
                    <a:p>
                      <a:r>
                        <a:rPr sz="1800">
                          <a:solidFill>
                            <a:srgbClr val="173447"/>
                          </a:solidFill>
                          <a:latin typeface="Arial"/>
                          <a:ea typeface="Arial"/>
                          <a:cs typeface="Arial"/>
                        </a:rPr>
                        <a:t>32</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Semillas 42 y 43</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Semillas 42 y 43</a:t>
                      </a:r>
                    </a:p>
                  </a:txBody>
                  <a:tcPr marL="133350" marR="133350" marT="114300" marB="114300">
                    <a:lnR w="9525">
                      <a:solidFill>
                        <a:srgbClr val="DDE5EA"/>
                      </a:solidFill>
                      <a:prstDash val="solid"/>
                    </a:lnR>
                    <a:lnB w="9525">
                      <a:solidFill>
                        <a:srgbClr val="DDE5EA"/>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FFA1374D-B44F-4D48-89CF-0B56503B1ABF}"/>
              </a:ext>
            </a:extLst>
          </p:cNvPr>
          <p:cNvSpPr>
            <a:spLocks xmlns:a="http://schemas.openxmlformats.org/drawingml/2006/main" noGrp="1"/>
          </p:cNvSpPr>
          <p:nvPr/>
        </p:nvSpPr>
        <p:spPr>
          <a:xfrm xmlns:a="http://schemas.openxmlformats.org/drawingml/2006/main">
            <a:off x="647700" y="45720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67C80"/>
                </a:solidFill>
                <a:latin typeface="Arial"/>
                <a:ea typeface="Arial"/>
                <a:cs typeface="Arial"/>
              </a:defRPr>
            </a:defPPr>
            <a:lvl1pPr>
              <a:defRPr sz="2625" b="1">
                <a:solidFill>
                  <a:srgbClr val="167C80"/>
                </a:solidFill>
                <a:latin typeface="Arial"/>
                <a:ea typeface="Arial"/>
                <a:cs typeface="Arial"/>
              </a:defRPr>
            </a:lvl1pPr>
            <a:lvl2pPr>
              <a:defRPr sz="2625" b="1">
                <a:solidFill>
                  <a:srgbClr val="167C80"/>
                </a:solidFill>
                <a:latin typeface="Arial"/>
                <a:ea typeface="Arial"/>
                <a:cs typeface="Arial"/>
              </a:defRPr>
            </a:lvl2pPr>
            <a:lvl3pPr>
              <a:defRPr sz="2625" b="1">
                <a:solidFill>
                  <a:srgbClr val="167C80"/>
                </a:solidFill>
                <a:latin typeface="Arial"/>
                <a:ea typeface="Arial"/>
                <a:cs typeface="Arial"/>
              </a:defRPr>
            </a:lvl3pPr>
            <a:lvl4pPr>
              <a:defRPr sz="2625" b="1">
                <a:solidFill>
                  <a:srgbClr val="167C80"/>
                </a:solidFill>
                <a:latin typeface="Arial"/>
                <a:ea typeface="Arial"/>
                <a:cs typeface="Arial"/>
              </a:defRPr>
            </a:lvl4pPr>
            <a:lvl5pPr>
              <a:defRPr sz="2625" b="1">
                <a:solidFill>
                  <a:srgbClr val="167C80"/>
                </a:solidFill>
                <a:latin typeface="Arial"/>
                <a:ea typeface="Arial"/>
                <a:cs typeface="Arial"/>
              </a:defRPr>
            </a:lvl5pPr>
            <a:lvl6pPr>
              <a:defRPr sz="2625" b="1">
                <a:solidFill>
                  <a:srgbClr val="167C80"/>
                </a:solidFill>
                <a:latin typeface="Arial"/>
                <a:ea typeface="Arial"/>
                <a:cs typeface="Arial"/>
              </a:defRPr>
            </a:lvl6pPr>
            <a:lvl7pPr>
              <a:defRPr sz="2625" b="1">
                <a:solidFill>
                  <a:srgbClr val="167C80"/>
                </a:solidFill>
                <a:latin typeface="Arial"/>
                <a:ea typeface="Arial"/>
                <a:cs typeface="Arial"/>
              </a:defRPr>
            </a:lvl7pPr>
            <a:lvl8pPr>
              <a:defRPr sz="2625" b="1">
                <a:solidFill>
                  <a:srgbClr val="167C80"/>
                </a:solidFill>
                <a:latin typeface="Arial"/>
                <a:ea typeface="Arial"/>
                <a:cs typeface="Arial"/>
              </a:defRPr>
            </a:lvl8pPr>
            <a:lvl9pPr>
              <a:defRPr sz="2625" b="1">
                <a:solidFill>
                  <a:srgbClr val="167C80"/>
                </a:solidFill>
                <a:latin typeface="Arial"/>
                <a:ea typeface="Arial"/>
                <a:cs typeface="Arial"/>
              </a:defRPr>
            </a:lvl9pPr>
          </a:lstStyle>
          <a:p xmlns:a="http://schemas.openxmlformats.org/drawingml/2006/main">
            <a:pPr>
              <a:defRPr sz="2625" b="1">
                <a:solidFill>
                  <a:srgbClr val="167C80"/>
                </a:solidFill>
                <a:latin typeface="Arial"/>
                <a:ea typeface="Arial"/>
                <a:cs typeface="Arial"/>
              </a:defRPr>
            </a:pPr>
            <a:r>
              <a:rPr sz="2625" b="1">
                <a:solidFill>
                  <a:srgbClr val="167C80"/>
                </a:solidFill>
                <a:latin typeface="Arial"/>
                <a:ea typeface="Arial"/>
                <a:cs typeface="Arial"/>
              </a:rPr>
              <a:t>12 entrenamientos independientes</a:t>
            </a:r>
          </a:p>
        </p:txBody>
      </p:sp>
      <p:sp>
        <p:nvSpPr>
          <p:cNvPr id="4" name="">
            <a:extLst xmlns:a="http://schemas.openxmlformats.org/drawingml/2006/main">
              <a:ext uri="{FF2B5EF4-FFF2-40B4-BE49-F238E27FC236}">
                <a16:creationId xmlns:a16="http://schemas.microsoft.com/office/drawing/2014/main" id="{97423472-EE98-4E42-ADC2-53FA2C166D5A}"/>
              </a:ext>
            </a:extLst>
          </p:cNvPr>
          <p:cNvSpPr>
            <a:spLocks xmlns:a="http://schemas.openxmlformats.org/drawingml/2006/main" noGrp="1"/>
          </p:cNvSpPr>
          <p:nvPr/>
        </p:nvSpPr>
        <p:spPr>
          <a:xfrm xmlns:a="http://schemas.openxmlformats.org/drawingml/2006/main">
            <a:off x="647700" y="53530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A6B7C"/>
                </a:solidFill>
                <a:latin typeface="Arial"/>
                <a:ea typeface="Arial"/>
                <a:cs typeface="Arial"/>
              </a:defRPr>
            </a:defPPr>
            <a:lvl1pPr>
              <a:defRPr sz="2100" b="0">
                <a:solidFill>
                  <a:srgbClr val="5A6B7C"/>
                </a:solidFill>
                <a:latin typeface="Arial"/>
                <a:ea typeface="Arial"/>
                <a:cs typeface="Arial"/>
              </a:defRPr>
            </a:lvl1pPr>
            <a:lvl2pPr>
              <a:defRPr sz="2100" b="0">
                <a:solidFill>
                  <a:srgbClr val="5A6B7C"/>
                </a:solidFill>
                <a:latin typeface="Arial"/>
                <a:ea typeface="Arial"/>
                <a:cs typeface="Arial"/>
              </a:defRPr>
            </a:lvl2pPr>
            <a:lvl3pPr>
              <a:defRPr sz="2100" b="0">
                <a:solidFill>
                  <a:srgbClr val="5A6B7C"/>
                </a:solidFill>
                <a:latin typeface="Arial"/>
                <a:ea typeface="Arial"/>
                <a:cs typeface="Arial"/>
              </a:defRPr>
            </a:lvl3pPr>
            <a:lvl4pPr>
              <a:defRPr sz="2100" b="0">
                <a:solidFill>
                  <a:srgbClr val="5A6B7C"/>
                </a:solidFill>
                <a:latin typeface="Arial"/>
                <a:ea typeface="Arial"/>
                <a:cs typeface="Arial"/>
              </a:defRPr>
            </a:lvl4pPr>
            <a:lvl5pPr>
              <a:defRPr sz="2100" b="0">
                <a:solidFill>
                  <a:srgbClr val="5A6B7C"/>
                </a:solidFill>
                <a:latin typeface="Arial"/>
                <a:ea typeface="Arial"/>
                <a:cs typeface="Arial"/>
              </a:defRPr>
            </a:lvl5pPr>
            <a:lvl6pPr>
              <a:defRPr sz="2100" b="0">
                <a:solidFill>
                  <a:srgbClr val="5A6B7C"/>
                </a:solidFill>
                <a:latin typeface="Arial"/>
                <a:ea typeface="Arial"/>
                <a:cs typeface="Arial"/>
              </a:defRPr>
            </a:lvl6pPr>
            <a:lvl7pPr>
              <a:defRPr sz="2100" b="0">
                <a:solidFill>
                  <a:srgbClr val="5A6B7C"/>
                </a:solidFill>
                <a:latin typeface="Arial"/>
                <a:ea typeface="Arial"/>
                <a:cs typeface="Arial"/>
              </a:defRPr>
            </a:lvl7pPr>
            <a:lvl8pPr>
              <a:defRPr sz="2100" b="0">
                <a:solidFill>
                  <a:srgbClr val="5A6B7C"/>
                </a:solidFill>
                <a:latin typeface="Arial"/>
                <a:ea typeface="Arial"/>
                <a:cs typeface="Arial"/>
              </a:defRPr>
            </a:lvl8pPr>
            <a:lvl9pPr>
              <a:defRPr sz="2100" b="0">
                <a:solidFill>
                  <a:srgbClr val="5A6B7C"/>
                </a:solidFill>
                <a:latin typeface="Arial"/>
                <a:ea typeface="Arial"/>
                <a:cs typeface="Arial"/>
              </a:defRPr>
            </a:lvl9pPr>
          </a:lstStyle>
          <a:p xmlns:a="http://schemas.openxmlformats.org/drawingml/2006/main">
            <a:pPr>
              <a:defRPr sz="2100" b="0">
                <a:solidFill>
                  <a:srgbClr val="5A6B7C"/>
                </a:solidFill>
                <a:latin typeface="Arial"/>
                <a:ea typeface="Arial"/>
                <a:cs typeface="Arial"/>
              </a:defRPr>
            </a:pPr>
            <a:r>
              <a:rPr sz="2100" b="0">
                <a:solidFill>
                  <a:srgbClr val="5A6B7C"/>
                </a:solidFill>
                <a:latin typeface="Arial"/>
                <a:ea typeface="Arial"/>
                <a:cs typeface="Arial"/>
              </a:rPr>
              <a:t>Esquinas primero. Una semilla por ronda completa.</a:t>
            </a:r>
          </a:p>
          <a:p xmlns:a="http://schemas.openxmlformats.org/drawingml/2006/main">
            <a:pPr>
              <a:defRPr sz="2100" b="0">
                <a:solidFill>
                  <a:srgbClr val="5A6B7C"/>
                </a:solidFill>
                <a:latin typeface="Arial"/>
                <a:ea typeface="Arial"/>
                <a:cs typeface="Arial"/>
              </a:defRPr>
            </a:pPr>
            <a:r>
              <a:rPr sz="2100" b="0">
                <a:solidFill>
                  <a:srgbClr val="5A6B7C"/>
                </a:solidFill>
                <a:latin typeface="Arial"/>
                <a:ea typeface="Arial"/>
                <a:cs typeface="Arial"/>
              </a:rPr>
              <a:t>Mismo modelo, datos y presupuesto: 32 pasos, lote efectivo 8.</a:t>
            </a:r>
          </a:p>
        </p:txBody>
      </p:sp>
    </p:spTree>
    <p:extLst>
      <p:ext uri="{BB962C8B-B14F-4D97-AF65-F5344CB8AC3E}">
        <p14:creationId xmlns:p14="http://schemas.microsoft.com/office/powerpoint/2010/main" val="54027051"/>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59E9A4-BA49-4090-9D8D-C25158C82AD2}"/>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¿El efecto de r depende de alpha?</a:t>
            </a:r>
          </a:p>
        </p:txBody>
      </p:sp>
      <p:graphicFrame>
        <p:nvGraphicFramePr>
          <p:cNvPr id="2" name="Chart">
            <a:extLst xmlns:a="http://schemas.openxmlformats.org/drawingml/2006/main">
              <a:ext uri="{FF2B5EF4-FFF2-40B4-BE49-F238E27FC236}">
                <a16:creationId xmlns:a16="http://schemas.microsoft.com/office/drawing/2014/main" id="{15654DF3-633D-4EE6-99D6-7CFE676FD360}"/>
              </a:ext>
            </a:extLst>
          </p:cNvPr>
          <p:cNvGraphicFramePr/>
          <p:nvPr/>
        </p:nvGraphicFramePr>
        <p:xfrm>
          <a:off xmlns:a="http://schemas.openxmlformats.org/drawingml/2006/main" x="904875" y="1714500"/>
          <a:ext xmlns:a="http://schemas.openxmlformats.org/drawingml/2006/main" cx="10334625" cy="3524250"/>
        </p:xfrm>
        <a:graphic xmlns:a="http://schemas.openxmlformats.org/drawingml/2006/main">
          <a:graphicData uri="http://schemas.openxmlformats.org/drawingml/2006/chart">
            <c:chart xmlns:r="http://schemas.openxmlformats.org/officeDocument/2006/relationships" xmlns:c="http://schemas.openxmlformats.org/drawingml/2006/chart" r:id="R6d67b6fe19054546"/>
          </a:graphicData>
        </a:graphic>
      </p:graphicFrame>
      <p:sp>
        <p:nvSpPr>
          <p:cNvPr id="3" name="">
            <a:extLst xmlns:a="http://schemas.openxmlformats.org/drawingml/2006/main">
              <a:ext uri="{FF2B5EF4-FFF2-40B4-BE49-F238E27FC236}">
                <a16:creationId xmlns:a16="http://schemas.microsoft.com/office/drawing/2014/main" id="{132379B1-24F5-4EB5-9255-6BB8A937FBA3}"/>
              </a:ext>
            </a:extLst>
          </p:cNvPr>
          <p:cNvSpPr>
            <a:spLocks xmlns:a="http://schemas.openxmlformats.org/drawingml/2006/main" noGrp="1"/>
          </p:cNvSpPr>
          <p:nvPr/>
        </p:nvSpPr>
        <p:spPr>
          <a:xfrm xmlns:a="http://schemas.openxmlformats.org/drawingml/2006/main">
            <a:off x="647700" y="55054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447"/>
                </a:solidFill>
                <a:latin typeface="Arial"/>
                <a:ea typeface="Arial"/>
                <a:cs typeface="Arial"/>
              </a:defRPr>
            </a:defPPr>
            <a:lvl1pPr>
              <a:defRPr sz="2025" b="1">
                <a:solidFill>
                  <a:srgbClr val="173447"/>
                </a:solidFill>
                <a:latin typeface="Arial"/>
                <a:ea typeface="Arial"/>
                <a:cs typeface="Arial"/>
              </a:defRPr>
            </a:lvl1pPr>
            <a:lvl2pPr>
              <a:defRPr sz="2025" b="1">
                <a:solidFill>
                  <a:srgbClr val="173447"/>
                </a:solidFill>
                <a:latin typeface="Arial"/>
                <a:ea typeface="Arial"/>
                <a:cs typeface="Arial"/>
              </a:defRPr>
            </a:lvl2pPr>
            <a:lvl3pPr>
              <a:defRPr sz="2025" b="1">
                <a:solidFill>
                  <a:srgbClr val="173447"/>
                </a:solidFill>
                <a:latin typeface="Arial"/>
                <a:ea typeface="Arial"/>
                <a:cs typeface="Arial"/>
              </a:defRPr>
            </a:lvl3pPr>
            <a:lvl4pPr>
              <a:defRPr sz="2025" b="1">
                <a:solidFill>
                  <a:srgbClr val="173447"/>
                </a:solidFill>
                <a:latin typeface="Arial"/>
                <a:ea typeface="Arial"/>
                <a:cs typeface="Arial"/>
              </a:defRPr>
            </a:lvl4pPr>
            <a:lvl5pPr>
              <a:defRPr sz="2025" b="1">
                <a:solidFill>
                  <a:srgbClr val="173447"/>
                </a:solidFill>
                <a:latin typeface="Arial"/>
                <a:ea typeface="Arial"/>
                <a:cs typeface="Arial"/>
              </a:defRPr>
            </a:lvl5pPr>
            <a:lvl6pPr>
              <a:defRPr sz="2025" b="1">
                <a:solidFill>
                  <a:srgbClr val="173447"/>
                </a:solidFill>
                <a:latin typeface="Arial"/>
                <a:ea typeface="Arial"/>
                <a:cs typeface="Arial"/>
              </a:defRPr>
            </a:lvl6pPr>
            <a:lvl7pPr>
              <a:defRPr sz="2025" b="1">
                <a:solidFill>
                  <a:srgbClr val="173447"/>
                </a:solidFill>
                <a:latin typeface="Arial"/>
                <a:ea typeface="Arial"/>
                <a:cs typeface="Arial"/>
              </a:defRPr>
            </a:lvl7pPr>
            <a:lvl8pPr>
              <a:defRPr sz="2025" b="1">
                <a:solidFill>
                  <a:srgbClr val="173447"/>
                </a:solidFill>
                <a:latin typeface="Arial"/>
                <a:ea typeface="Arial"/>
                <a:cs typeface="Arial"/>
              </a:defRPr>
            </a:lvl8pPr>
            <a:lvl9pPr>
              <a:defRPr sz="2025" b="1">
                <a:solidFill>
                  <a:srgbClr val="173447"/>
                </a:solidFill>
                <a:latin typeface="Arial"/>
                <a:ea typeface="Arial"/>
                <a:cs typeface="Arial"/>
              </a:defRPr>
            </a:lvl9pPr>
          </a:lstStyle>
          <a:p xmlns:a="http://schemas.openxmlformats.org/drawingml/2006/main">
            <a:pPr>
              <a:defRPr sz="2025" b="1">
                <a:solidFill>
                  <a:srgbClr val="173447"/>
                </a:solidFill>
                <a:latin typeface="Arial"/>
                <a:ea typeface="Arial"/>
                <a:cs typeface="Arial"/>
              </a:defRPr>
            </a:pPr>
            <a:r>
              <a:rPr sz="2025" b="1">
                <a:solidFill>
                  <a:srgbClr val="173447"/>
                </a:solidFill>
                <a:latin typeface="Arial"/>
                <a:ea typeface="Arial"/>
                <a:cs typeface="Arial"/>
              </a:rPr>
              <a:t>F1 macro medio en validación. Dos semillas por punto; eje vertical ampliado.</a:t>
            </a:r>
          </a:p>
        </p:txBody>
      </p:sp>
      <p:sp>
        <p:nvSpPr>
          <p:cNvPr id="4" name="">
            <a:extLst xmlns:a="http://schemas.openxmlformats.org/drawingml/2006/main">
              <a:ext uri="{FF2B5EF4-FFF2-40B4-BE49-F238E27FC236}">
                <a16:creationId xmlns:a16="http://schemas.microsoft.com/office/drawing/2014/main" id="{5A8AD7CC-8E01-4723-994D-914F1806ED37}"/>
              </a:ext>
            </a:extLst>
          </p:cNvPr>
          <p:cNvSpPr>
            <a:spLocks xmlns:a="http://schemas.openxmlformats.org/drawingml/2006/main" noGrp="1"/>
          </p:cNvSpPr>
          <p:nvPr/>
        </p:nvSpPr>
        <p:spPr>
          <a:xfrm xmlns:a="http://schemas.openxmlformats.org/drawingml/2006/main">
            <a:off x="647700" y="61436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A6B7C"/>
                </a:solidFill>
                <a:latin typeface="Arial"/>
                <a:ea typeface="Arial"/>
                <a:cs typeface="Arial"/>
              </a:defRPr>
            </a:defPPr>
            <a:lvl1pPr>
              <a:defRPr sz="1725" b="0">
                <a:solidFill>
                  <a:srgbClr val="5A6B7C"/>
                </a:solidFill>
                <a:latin typeface="Arial"/>
                <a:ea typeface="Arial"/>
                <a:cs typeface="Arial"/>
              </a:defRPr>
            </a:lvl1pPr>
            <a:lvl2pPr>
              <a:defRPr sz="1725" b="0">
                <a:solidFill>
                  <a:srgbClr val="5A6B7C"/>
                </a:solidFill>
                <a:latin typeface="Arial"/>
                <a:ea typeface="Arial"/>
                <a:cs typeface="Arial"/>
              </a:defRPr>
            </a:lvl2pPr>
            <a:lvl3pPr>
              <a:defRPr sz="1725" b="0">
                <a:solidFill>
                  <a:srgbClr val="5A6B7C"/>
                </a:solidFill>
                <a:latin typeface="Arial"/>
                <a:ea typeface="Arial"/>
                <a:cs typeface="Arial"/>
              </a:defRPr>
            </a:lvl3pPr>
            <a:lvl4pPr>
              <a:defRPr sz="1725" b="0">
                <a:solidFill>
                  <a:srgbClr val="5A6B7C"/>
                </a:solidFill>
                <a:latin typeface="Arial"/>
                <a:ea typeface="Arial"/>
                <a:cs typeface="Arial"/>
              </a:defRPr>
            </a:lvl4pPr>
            <a:lvl5pPr>
              <a:defRPr sz="1725" b="0">
                <a:solidFill>
                  <a:srgbClr val="5A6B7C"/>
                </a:solidFill>
                <a:latin typeface="Arial"/>
                <a:ea typeface="Arial"/>
                <a:cs typeface="Arial"/>
              </a:defRPr>
            </a:lvl5pPr>
            <a:lvl6pPr>
              <a:defRPr sz="1725" b="0">
                <a:solidFill>
                  <a:srgbClr val="5A6B7C"/>
                </a:solidFill>
                <a:latin typeface="Arial"/>
                <a:ea typeface="Arial"/>
                <a:cs typeface="Arial"/>
              </a:defRPr>
            </a:lvl6pPr>
            <a:lvl7pPr>
              <a:defRPr sz="1725" b="0">
                <a:solidFill>
                  <a:srgbClr val="5A6B7C"/>
                </a:solidFill>
                <a:latin typeface="Arial"/>
                <a:ea typeface="Arial"/>
                <a:cs typeface="Arial"/>
              </a:defRPr>
            </a:lvl7pPr>
            <a:lvl8pPr>
              <a:defRPr sz="1725" b="0">
                <a:solidFill>
                  <a:srgbClr val="5A6B7C"/>
                </a:solidFill>
                <a:latin typeface="Arial"/>
                <a:ea typeface="Arial"/>
                <a:cs typeface="Arial"/>
              </a:defRPr>
            </a:lvl8pPr>
            <a:lvl9pPr>
              <a:defRPr sz="1725" b="0">
                <a:solidFill>
                  <a:srgbClr val="5A6B7C"/>
                </a:solidFill>
                <a:latin typeface="Arial"/>
                <a:ea typeface="Arial"/>
                <a:cs typeface="Arial"/>
              </a:defRPr>
            </a:lvl9pPr>
          </a:lstStyle>
          <a:p xmlns:a="http://schemas.openxmlformats.org/drawingml/2006/main">
            <a:pPr>
              <a:defRPr sz="1725" b="0">
                <a:solidFill>
                  <a:srgbClr val="5A6B7C"/>
                </a:solidFill>
                <a:latin typeface="Arial"/>
                <a:ea typeface="Arial"/>
                <a:cs typeface="Arial"/>
              </a:defRPr>
            </a:pPr>
            <a:r>
              <a:rPr sz="1725" b="0">
                <a:solidFill>
                  <a:srgbClr val="5A6B7C"/>
                </a:solidFill>
                <a:latin typeface="Arial"/>
                <a:ea typeface="Arial"/>
                <a:cs typeface="Arial"/>
              </a:rPr>
              <a:t>Las diferencias entre réplicas y los resultados de prueba están en el notebook.</a:t>
            </a:r>
          </a:p>
        </p:txBody>
      </p:sp>
    </p:spTree>
    <p:extLst>
      <p:ext uri="{BB962C8B-B14F-4D97-AF65-F5344CB8AC3E}">
        <p14:creationId xmlns:p14="http://schemas.microsoft.com/office/powerpoint/2010/main" val="502125013"/>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A7D1E7-8E33-497F-B9B0-F74FBABFBBC4}"/>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Regresión y contraste de la predicción</a:t>
            </a:r>
          </a:p>
        </p:txBody>
      </p:sp>
      <p:graphicFrame>
        <p:nvGraphicFramePr>
          <p:cNvPr id="2" name="">
            <a:extLst xmlns:a="http://schemas.openxmlformats.org/drawingml/2006/main">
              <a:ext uri="{FF2B5EF4-FFF2-40B4-BE49-F238E27FC236}">
                <a16:creationId xmlns:a16="http://schemas.microsoft.com/office/drawing/2014/main" id="{8C9DD57C-0670-4492-AF81-5792A664EBA1}"/>
              </a:ext>
            </a:extLst>
          </p:cNvPr>
          <p:cNvGraphicFramePr/>
          <p:nvPr/>
        </p:nvGraphicFramePr>
        <p:xfrm>
          <a:off xmlns:a="http://schemas.openxmlformats.org/drawingml/2006/main" x="609600" y="1600200"/>
          <a:ext xmlns:a="http://schemas.openxmlformats.org/drawingml/2006/main" cx="10972800" cy="3000375"/>
        </p:xfrm>
        <a:graphic xmlns:a="http://schemas.openxmlformats.org/drawingml/2006/main">
          <a:graphicData uri="http://schemas.openxmlformats.org/drawingml/2006/table">
            <a:tbl>
              <a:tblPr/>
              <a:tblGrid>
                <a:gridCol w="5524500"/>
                <a:gridCol w="2724150"/>
                <a:gridCol w="2724150"/>
              </a:tblGrid>
              <a:tr h="600075">
                <a:tc>
                  <a:txBody>
                    <a:bodyPr/>
                    <a:lstStyle/>
                    <a:p>
                      <a:r>
                        <a:rPr sz="1725" b="1">
                          <a:solidFill>
                            <a:srgbClr val="167C80"/>
                          </a:solidFill>
                          <a:latin typeface="Arial"/>
                          <a:ea typeface="Arial"/>
                          <a:cs typeface="Arial"/>
                        </a:rPr>
                        <a:t>Efecto</a:t>
                      </a:r>
                    </a:p>
                  </a:txBody>
                  <a:tcPr marL="133350" marR="133350" marT="114300" marB="114300">
                    <a:lnL w="9525">
                      <a:solidFill>
                        <a:srgbClr val="DDE5EA"/>
                      </a:solidFill>
                      <a:prstDash val="solid"/>
                    </a:lnL>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F parcial</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p exploratoria</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r>
              <a:tr h="600075">
                <a:tc>
                  <a:txBody>
                    <a:bodyPr/>
                    <a:lstStyle/>
                    <a:p>
                      <a:r>
                        <a:rPr sz="1800">
                          <a:solidFill>
                            <a:srgbClr val="173447"/>
                          </a:solidFill>
                          <a:latin typeface="Arial"/>
                          <a:ea typeface="Arial"/>
                          <a:cs typeface="Arial"/>
                        </a:rPr>
                        <a:t>r</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0.093</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0.9131</a:t>
                      </a:r>
                    </a:p>
                  </a:txBody>
                  <a:tcPr marL="133350" marR="133350" marT="114300" marB="114300">
                    <a:lnR w="9525">
                      <a:solidFill>
                        <a:srgbClr val="DDE5EA"/>
                      </a:solidFill>
                      <a:prstDash val="solid"/>
                    </a:lnR>
                    <a:lnB w="9525">
                      <a:solidFill>
                        <a:srgbClr val="DDE5EA"/>
                      </a:solidFill>
                      <a:prstDash val="solid"/>
                    </a:lnB>
                  </a:tcPr>
                </a:tc>
              </a:tr>
              <a:tr h="600075">
                <a:tc>
                  <a:txBody>
                    <a:bodyPr/>
                    <a:lstStyle/>
                    <a:p>
                      <a:r>
                        <a:rPr sz="1800">
                          <a:solidFill>
                            <a:srgbClr val="173447"/>
                          </a:solidFill>
                          <a:latin typeface="Arial"/>
                          <a:ea typeface="Arial"/>
                          <a:cs typeface="Arial"/>
                        </a:rPr>
                        <a:t>alpha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110.706</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0.0001</a:t>
                      </a:r>
                    </a:p>
                  </a:txBody>
                  <a:tcPr marL="133350" marR="133350" marT="114300" marB="114300">
                    <a:lnR w="9525">
                      <a:solidFill>
                        <a:srgbClr val="DDE5EA"/>
                      </a:solidFill>
                      <a:prstDash val="solid"/>
                    </a:lnR>
                    <a:lnB w="9525">
                      <a:solidFill>
                        <a:srgbClr val="DDE5EA"/>
                      </a:solidFill>
                      <a:prstDash val="solid"/>
                    </a:lnB>
                  </a:tcPr>
                </a:tc>
              </a:tr>
              <a:tr h="600075">
                <a:tc>
                  <a:txBody>
                    <a:bodyPr/>
                    <a:lstStyle/>
                    <a:p>
                      <a:r>
                        <a:rPr sz="1800">
                          <a:solidFill>
                            <a:srgbClr val="173447"/>
                          </a:solidFill>
                          <a:latin typeface="Arial"/>
                          <a:ea typeface="Arial"/>
                          <a:cs typeface="Arial"/>
                        </a:rPr>
                        <a:t>r × alpha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0.333</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0.7314</a:t>
                      </a:r>
                    </a:p>
                  </a:txBody>
                  <a:tcPr marL="133350" marR="133350" marT="114300" marB="114300">
                    <a:lnR w="9525">
                      <a:solidFill>
                        <a:srgbClr val="DDE5EA"/>
                      </a:solidFill>
                      <a:prstDash val="solid"/>
                    </a:lnR>
                    <a:lnB w="9525">
                      <a:solidFill>
                        <a:srgbClr val="DDE5EA"/>
                      </a:solidFill>
                      <a:prstDash val="solid"/>
                    </a:lnB>
                  </a:tcPr>
                </a:tc>
              </a:tr>
              <a:tr h="600075">
                <a:tc>
                  <a:txBody>
                    <a:bodyPr/>
                    <a:lstStyle/>
                    <a:p>
                      <a:r>
                        <a:rPr sz="1800">
                          <a:solidFill>
                            <a:srgbClr val="173447"/>
                          </a:solidFill>
                          <a:latin typeface="Arial"/>
                          <a:ea typeface="Arial"/>
                          <a:cs typeface="Arial"/>
                        </a:rPr>
                        <a:t>semilla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129.680</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0.0001</a:t>
                      </a:r>
                    </a:p>
                  </a:txBody>
                  <a:tcPr marL="133350" marR="133350" marT="114300" marB="114300">
                    <a:lnR w="9525">
                      <a:solidFill>
                        <a:srgbClr val="DDE5EA"/>
                      </a:solidFill>
                      <a:prstDash val="solid"/>
                    </a:lnR>
                    <a:lnB w="9525">
                      <a:solidFill>
                        <a:srgbClr val="DDE5EA"/>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B30A4C8D-42F6-4F15-A0E1-7981DEFDA0C4}"/>
              </a:ext>
            </a:extLst>
          </p:cNvPr>
          <p:cNvSpPr>
            <a:spLocks xmlns:a="http://schemas.openxmlformats.org/drawingml/2006/main" noGrp="1"/>
          </p:cNvSpPr>
          <p:nvPr/>
        </p:nvSpPr>
        <p:spPr>
          <a:xfrm xmlns:a="http://schemas.openxmlformats.org/drawingml/2006/main">
            <a:off x="647700" y="49530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7C80"/>
                </a:solidFill>
                <a:latin typeface="Arial"/>
                <a:ea typeface="Arial"/>
                <a:cs typeface="Arial"/>
              </a:defRPr>
            </a:defPPr>
            <a:lvl1pPr>
              <a:defRPr sz="2175" b="1">
                <a:solidFill>
                  <a:srgbClr val="167C80"/>
                </a:solidFill>
                <a:latin typeface="Arial"/>
                <a:ea typeface="Arial"/>
                <a:cs typeface="Arial"/>
              </a:defRPr>
            </a:lvl1pPr>
            <a:lvl2pPr>
              <a:defRPr sz="2175" b="1">
                <a:solidFill>
                  <a:srgbClr val="167C80"/>
                </a:solidFill>
                <a:latin typeface="Arial"/>
                <a:ea typeface="Arial"/>
                <a:cs typeface="Arial"/>
              </a:defRPr>
            </a:lvl2pPr>
            <a:lvl3pPr>
              <a:defRPr sz="2175" b="1">
                <a:solidFill>
                  <a:srgbClr val="167C80"/>
                </a:solidFill>
                <a:latin typeface="Arial"/>
                <a:ea typeface="Arial"/>
                <a:cs typeface="Arial"/>
              </a:defRPr>
            </a:lvl3pPr>
            <a:lvl4pPr>
              <a:defRPr sz="2175" b="1">
                <a:solidFill>
                  <a:srgbClr val="167C80"/>
                </a:solidFill>
                <a:latin typeface="Arial"/>
                <a:ea typeface="Arial"/>
                <a:cs typeface="Arial"/>
              </a:defRPr>
            </a:lvl4pPr>
            <a:lvl5pPr>
              <a:defRPr sz="2175" b="1">
                <a:solidFill>
                  <a:srgbClr val="167C80"/>
                </a:solidFill>
                <a:latin typeface="Arial"/>
                <a:ea typeface="Arial"/>
                <a:cs typeface="Arial"/>
              </a:defRPr>
            </a:lvl5pPr>
            <a:lvl6pPr>
              <a:defRPr sz="2175" b="1">
                <a:solidFill>
                  <a:srgbClr val="167C80"/>
                </a:solidFill>
                <a:latin typeface="Arial"/>
                <a:ea typeface="Arial"/>
                <a:cs typeface="Arial"/>
              </a:defRPr>
            </a:lvl6pPr>
            <a:lvl7pPr>
              <a:defRPr sz="2175" b="1">
                <a:solidFill>
                  <a:srgbClr val="167C80"/>
                </a:solidFill>
                <a:latin typeface="Arial"/>
                <a:ea typeface="Arial"/>
                <a:cs typeface="Arial"/>
              </a:defRPr>
            </a:lvl7pPr>
            <a:lvl8pPr>
              <a:defRPr sz="2175" b="1">
                <a:solidFill>
                  <a:srgbClr val="167C80"/>
                </a:solidFill>
                <a:latin typeface="Arial"/>
                <a:ea typeface="Arial"/>
                <a:cs typeface="Arial"/>
              </a:defRPr>
            </a:lvl8pPr>
            <a:lvl9pPr>
              <a:defRPr sz="2175" b="1">
                <a:solidFill>
                  <a:srgbClr val="167C80"/>
                </a:solidFill>
                <a:latin typeface="Arial"/>
                <a:ea typeface="Arial"/>
                <a:cs typeface="Arial"/>
              </a:defRPr>
            </a:lvl9pPr>
          </a:lstStyle>
          <a:p xmlns:a="http://schemas.openxmlformats.org/drawingml/2006/main">
            <a:pPr>
              <a:defRPr sz="2175" b="1">
                <a:solidFill>
                  <a:srgbClr val="167C80"/>
                </a:solidFill>
                <a:latin typeface="Arial"/>
                <a:ea typeface="Arial"/>
                <a:cs typeface="Arial"/>
              </a:defRPr>
            </a:pPr>
            <a:r>
              <a:rPr sz="2175" b="1">
                <a:solidFill>
                  <a:srgbClr val="167C80"/>
                </a:solidFill>
                <a:latin typeface="Arial"/>
                <a:ea typeface="Arial"/>
                <a:cs typeface="Arial"/>
              </a:rPr>
              <a:t>Candidato previsto: r=1, alpha=32.</a:t>
            </a:r>
          </a:p>
          <a:p xmlns:a="http://schemas.openxmlformats.org/drawingml/2006/main">
            <a:pPr>
              <a:defRPr sz="2175" b="1">
                <a:solidFill>
                  <a:srgbClr val="167C80"/>
                </a:solidFill>
                <a:latin typeface="Arial"/>
                <a:ea typeface="Arial"/>
                <a:cs typeface="Arial"/>
              </a:defRPr>
            </a:pPr>
            <a:r>
              <a:rPr sz="2175" b="1">
                <a:solidFill>
                  <a:srgbClr val="167C80"/>
                </a:solidFill>
                <a:latin typeface="Arial"/>
                <a:ea typeface="Arial"/>
                <a:cs typeface="Arial"/>
              </a:rPr>
              <a:t>F1 previsto: 0.807. Medido por duplicado: 0.828.</a:t>
            </a:r>
          </a:p>
        </p:txBody>
      </p:sp>
      <p:sp>
        <p:nvSpPr>
          <p:cNvPr id="4" name="">
            <a:extLst xmlns:a="http://schemas.openxmlformats.org/drawingml/2006/main">
              <a:ext uri="{FF2B5EF4-FFF2-40B4-BE49-F238E27FC236}">
                <a16:creationId xmlns:a16="http://schemas.microsoft.com/office/drawing/2014/main" id="{96E53EC7-BE84-47A1-8735-823742C125D7}"/>
              </a:ext>
            </a:extLst>
          </p:cNvPr>
          <p:cNvSpPr>
            <a:spLocks xmlns:a="http://schemas.openxmlformats.org/drawingml/2006/main" noGrp="1"/>
          </p:cNvSpPr>
          <p:nvPr/>
        </p:nvSpPr>
        <p:spPr>
          <a:xfrm xmlns:a="http://schemas.openxmlformats.org/drawingml/2006/main">
            <a:off x="647700" y="61722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A6B7C"/>
                </a:solidFill>
                <a:latin typeface="Arial"/>
                <a:ea typeface="Arial"/>
                <a:cs typeface="Arial"/>
              </a:defRPr>
            </a:defPPr>
            <a:lvl1pPr>
              <a:defRPr sz="1650" b="0">
                <a:solidFill>
                  <a:srgbClr val="5A6B7C"/>
                </a:solidFill>
                <a:latin typeface="Arial"/>
                <a:ea typeface="Arial"/>
                <a:cs typeface="Arial"/>
              </a:defRPr>
            </a:lvl1pPr>
            <a:lvl2pPr>
              <a:defRPr sz="1650" b="0">
                <a:solidFill>
                  <a:srgbClr val="5A6B7C"/>
                </a:solidFill>
                <a:latin typeface="Arial"/>
                <a:ea typeface="Arial"/>
                <a:cs typeface="Arial"/>
              </a:defRPr>
            </a:lvl2pPr>
            <a:lvl3pPr>
              <a:defRPr sz="1650" b="0">
                <a:solidFill>
                  <a:srgbClr val="5A6B7C"/>
                </a:solidFill>
                <a:latin typeface="Arial"/>
                <a:ea typeface="Arial"/>
                <a:cs typeface="Arial"/>
              </a:defRPr>
            </a:lvl3pPr>
            <a:lvl4pPr>
              <a:defRPr sz="1650" b="0">
                <a:solidFill>
                  <a:srgbClr val="5A6B7C"/>
                </a:solidFill>
                <a:latin typeface="Arial"/>
                <a:ea typeface="Arial"/>
                <a:cs typeface="Arial"/>
              </a:defRPr>
            </a:lvl4pPr>
            <a:lvl5pPr>
              <a:defRPr sz="1650" b="0">
                <a:solidFill>
                  <a:srgbClr val="5A6B7C"/>
                </a:solidFill>
                <a:latin typeface="Arial"/>
                <a:ea typeface="Arial"/>
                <a:cs typeface="Arial"/>
              </a:defRPr>
            </a:lvl5pPr>
            <a:lvl6pPr>
              <a:defRPr sz="1650" b="0">
                <a:solidFill>
                  <a:srgbClr val="5A6B7C"/>
                </a:solidFill>
                <a:latin typeface="Arial"/>
                <a:ea typeface="Arial"/>
                <a:cs typeface="Arial"/>
              </a:defRPr>
            </a:lvl6pPr>
            <a:lvl7pPr>
              <a:defRPr sz="1650" b="0">
                <a:solidFill>
                  <a:srgbClr val="5A6B7C"/>
                </a:solidFill>
                <a:latin typeface="Arial"/>
                <a:ea typeface="Arial"/>
                <a:cs typeface="Arial"/>
              </a:defRPr>
            </a:lvl7pPr>
            <a:lvl8pPr>
              <a:defRPr sz="1650" b="0">
                <a:solidFill>
                  <a:srgbClr val="5A6B7C"/>
                </a:solidFill>
                <a:latin typeface="Arial"/>
                <a:ea typeface="Arial"/>
                <a:cs typeface="Arial"/>
              </a:defRPr>
            </a:lvl8pPr>
            <a:lvl9pPr>
              <a:defRPr sz="1650" b="0">
                <a:solidFill>
                  <a:srgbClr val="5A6B7C"/>
                </a:solidFill>
                <a:latin typeface="Arial"/>
                <a:ea typeface="Arial"/>
                <a:cs typeface="Arial"/>
              </a:defRPr>
            </a:lvl9pPr>
          </a:lstStyle>
          <a:p xmlns:a="http://schemas.openxmlformats.org/drawingml/2006/main">
            <a:pPr>
              <a:defRPr sz="1650" b="0">
                <a:solidFill>
                  <a:srgbClr val="5A6B7C"/>
                </a:solidFill>
                <a:latin typeface="Arial"/>
                <a:ea typeface="Arial"/>
                <a:cs typeface="Arial"/>
              </a:defRPr>
            </a:pPr>
            <a:r>
              <a:rPr sz="1650" b="0">
                <a:solidFill>
                  <a:srgbClr val="5A6B7C"/>
                </a:solidFill>
                <a:latin typeface="Arial"/>
                <a:ea typeface="Arial"/>
                <a:cs typeface="Arial"/>
              </a:rPr>
              <a:t>Modelo cuadrático en log2(r), interacción y bloque de semilla. Solo 5 gl residuales.</a:t>
            </a:r>
          </a:p>
        </p:txBody>
      </p:sp>
    </p:spTree>
    <p:extLst>
      <p:ext uri="{BB962C8B-B14F-4D97-AF65-F5344CB8AC3E}">
        <p14:creationId xmlns:p14="http://schemas.microsoft.com/office/powerpoint/2010/main" val="1606712961"/>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58D2E9-4EDB-46C0-A723-12887804B137}"/>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Frontera de mejora: diferencia e incertidumbre</a:t>
            </a:r>
          </a:p>
        </p:txBody>
      </p:sp>
      <p:sp>
        <p:nvSpPr>
          <p:cNvPr id="2" name="">
            <a:extLst xmlns:a="http://schemas.openxmlformats.org/drawingml/2006/main">
              <a:ext uri="{FF2B5EF4-FFF2-40B4-BE49-F238E27FC236}">
                <a16:creationId xmlns:a16="http://schemas.microsoft.com/office/drawing/2014/main" id="{EE67F295-949D-40A0-BAE1-8BA2FAE90082}"/>
              </a:ext>
            </a:extLst>
          </p:cNvPr>
          <p:cNvSpPr>
            <a:spLocks xmlns:a="http://schemas.openxmlformats.org/drawingml/2006/main" noGrp="1"/>
          </p:cNvSpPr>
          <p:nvPr/>
        </p:nvSpPr>
        <p:spPr>
          <a:xfrm xmlns:a="http://schemas.openxmlformats.org/drawingml/2006/main">
            <a:off x="647700" y="1381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C80"/>
                </a:solidFill>
                <a:latin typeface="Arial"/>
                <a:ea typeface="Arial"/>
                <a:cs typeface="Arial"/>
              </a:defRPr>
            </a:defPPr>
            <a:lvl1pPr>
              <a:defRPr sz="2250" b="1">
                <a:solidFill>
                  <a:srgbClr val="167C80"/>
                </a:solidFill>
                <a:latin typeface="Arial"/>
                <a:ea typeface="Arial"/>
                <a:cs typeface="Arial"/>
              </a:defRPr>
            </a:lvl1pPr>
            <a:lvl2pPr>
              <a:defRPr sz="2250" b="1">
                <a:solidFill>
                  <a:srgbClr val="167C80"/>
                </a:solidFill>
                <a:latin typeface="Arial"/>
                <a:ea typeface="Arial"/>
                <a:cs typeface="Arial"/>
              </a:defRPr>
            </a:lvl2pPr>
            <a:lvl3pPr>
              <a:defRPr sz="2250" b="1">
                <a:solidFill>
                  <a:srgbClr val="167C80"/>
                </a:solidFill>
                <a:latin typeface="Arial"/>
                <a:ea typeface="Arial"/>
                <a:cs typeface="Arial"/>
              </a:defRPr>
            </a:lvl3pPr>
            <a:lvl4pPr>
              <a:defRPr sz="2250" b="1">
                <a:solidFill>
                  <a:srgbClr val="167C80"/>
                </a:solidFill>
                <a:latin typeface="Arial"/>
                <a:ea typeface="Arial"/>
                <a:cs typeface="Arial"/>
              </a:defRPr>
            </a:lvl4pPr>
            <a:lvl5pPr>
              <a:defRPr sz="2250" b="1">
                <a:solidFill>
                  <a:srgbClr val="167C80"/>
                </a:solidFill>
                <a:latin typeface="Arial"/>
                <a:ea typeface="Arial"/>
                <a:cs typeface="Arial"/>
              </a:defRPr>
            </a:lvl5pPr>
            <a:lvl6pPr>
              <a:defRPr sz="2250" b="1">
                <a:solidFill>
                  <a:srgbClr val="167C80"/>
                </a:solidFill>
                <a:latin typeface="Arial"/>
                <a:ea typeface="Arial"/>
                <a:cs typeface="Arial"/>
              </a:defRPr>
            </a:lvl6pPr>
            <a:lvl7pPr>
              <a:defRPr sz="2250" b="1">
                <a:solidFill>
                  <a:srgbClr val="167C80"/>
                </a:solidFill>
                <a:latin typeface="Arial"/>
                <a:ea typeface="Arial"/>
                <a:cs typeface="Arial"/>
              </a:defRPr>
            </a:lvl7pPr>
            <a:lvl8pPr>
              <a:defRPr sz="2250" b="1">
                <a:solidFill>
                  <a:srgbClr val="167C80"/>
                </a:solidFill>
                <a:latin typeface="Arial"/>
                <a:ea typeface="Arial"/>
                <a:cs typeface="Arial"/>
              </a:defRPr>
            </a:lvl8pPr>
            <a:lvl9pPr>
              <a:defRPr sz="2250" b="1">
                <a:solidFill>
                  <a:srgbClr val="167C80"/>
                </a:solidFill>
                <a:latin typeface="Arial"/>
                <a:ea typeface="Arial"/>
                <a:cs typeface="Arial"/>
              </a:defRPr>
            </a:lvl9pPr>
          </a:lstStyle>
          <a:p xmlns:a="http://schemas.openxmlformats.org/drawingml/2006/main">
            <a:pPr>
              <a:defRPr sz="2250" b="1">
                <a:solidFill>
                  <a:srgbClr val="167C80"/>
                </a:solidFill>
                <a:latin typeface="Arial"/>
                <a:ea typeface="Arial"/>
                <a:cs typeface="Arial"/>
              </a:defRPr>
            </a:pPr>
            <a:r>
              <a:rPr sz="2250" b="1">
                <a:solidFill>
                  <a:srgbClr val="167C80"/>
                </a:solidFill>
                <a:latin typeface="Arial"/>
                <a:ea typeface="Arial"/>
                <a:cs typeface="Arial"/>
              </a:rPr>
              <a:t>Margen práctico fijado antes de medir: 0.02 de F1 macro.</a:t>
            </a:r>
          </a:p>
        </p:txBody>
      </p:sp>
      <p:graphicFrame>
        <p:nvGraphicFramePr>
          <p:cNvPr id="3" name="">
            <a:extLst xmlns:a="http://schemas.openxmlformats.org/drawingml/2006/main">
              <a:ext uri="{FF2B5EF4-FFF2-40B4-BE49-F238E27FC236}">
                <a16:creationId xmlns:a16="http://schemas.microsoft.com/office/drawing/2014/main" id="{AAA031B3-B8F8-4587-A3C1-B65538553B7E}"/>
              </a:ext>
            </a:extLst>
          </p:cNvPr>
          <p:cNvGraphicFramePr/>
          <p:nvPr/>
        </p:nvGraphicFramePr>
        <p:xfrm>
          <a:off xmlns:a="http://schemas.openxmlformats.org/drawingml/2006/main" x="609600" y="2209800"/>
          <a:ext xmlns:a="http://schemas.openxmlformats.org/drawingml/2006/main" cx="10972800" cy="2905125"/>
        </p:xfrm>
        <a:graphic xmlns:a="http://schemas.openxmlformats.org/drawingml/2006/main">
          <a:graphicData uri="http://schemas.openxmlformats.org/drawingml/2006/table">
            <a:tbl>
              <a:tblPr/>
              <a:tblGrid>
                <a:gridCol w="1619250"/>
                <a:gridCol w="2476500"/>
                <a:gridCol w="2952750"/>
                <a:gridCol w="3924300"/>
              </a:tblGrid>
              <a:tr h="415018">
                <a:tc>
                  <a:txBody>
                    <a:bodyPr/>
                    <a:lstStyle/>
                    <a:p>
                      <a:r>
                        <a:rPr sz="1650" b="1">
                          <a:solidFill>
                            <a:srgbClr val="167C80"/>
                          </a:solidFill>
                          <a:latin typeface="Arial"/>
                          <a:ea typeface="Arial"/>
                          <a:cs typeface="Arial"/>
                        </a:rPr>
                        <a:t>Alpha</a:t>
                      </a:r>
                    </a:p>
                  </a:txBody>
                  <a:tcPr marL="114300" marR="114300" marT="76200" marB="76200">
                    <a:lnL w="9525">
                      <a:solidFill>
                        <a:srgbClr val="DDE5EA"/>
                      </a:solidFill>
                      <a:prstDash val="solid"/>
                    </a:lnL>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650" b="1">
                          <a:solidFill>
                            <a:srgbClr val="167C80"/>
                          </a:solidFill>
                          <a:latin typeface="Arial"/>
                          <a:ea typeface="Arial"/>
                          <a:cs typeface="Arial"/>
                        </a:rPr>
                        <a:t>Cambio de r</a:t>
                      </a:r>
                    </a:p>
                  </a:txBody>
                  <a:tcPr marL="114300" marR="114300" marT="76200" marB="762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650" b="1">
                          <a:solidFill>
                            <a:srgbClr val="167C80"/>
                          </a:solidFill>
                          <a:latin typeface="Arial"/>
                          <a:ea typeface="Arial"/>
                          <a:cs typeface="Arial"/>
                        </a:rPr>
                        <a:t>Cambio de F1</a:t>
                      </a:r>
                    </a:p>
                  </a:txBody>
                  <a:tcPr marL="114300" marR="114300" marT="76200" marB="762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650" b="1">
                          <a:solidFill>
                            <a:srgbClr val="167C80"/>
                          </a:solidFill>
                          <a:latin typeface="Arial"/>
                          <a:ea typeface="Arial"/>
                          <a:cs typeface="Arial"/>
                        </a:rPr>
                        <a:t>Límite superior 95 %</a:t>
                      </a:r>
                    </a:p>
                  </a:txBody>
                  <a:tcPr marL="114300" marR="114300" marT="76200" marB="762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r>
              <a:tr h="415018">
                <a:tc>
                  <a:txBody>
                    <a:bodyPr/>
                    <a:lstStyle/>
                    <a:p>
                      <a:r>
                        <a:rPr sz="1650">
                          <a:solidFill>
                            <a:srgbClr val="173447"/>
                          </a:solidFill>
                          <a:latin typeface="Arial"/>
                          <a:ea typeface="Arial"/>
                          <a:cs typeface="Arial"/>
                        </a:rPr>
                        <a:t>8</a:t>
                      </a:r>
                    </a:p>
                  </a:txBody>
                  <a:tcPr marL="114300" marR="114300" marT="76200" marB="762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2 a 8</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-0.001</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0.037</a:t>
                      </a:r>
                    </a:p>
                  </a:txBody>
                  <a:tcPr marL="114300" marR="114300" marT="76200" marB="76200">
                    <a:lnR w="9525">
                      <a:solidFill>
                        <a:srgbClr val="DDE5EA"/>
                      </a:solidFill>
                      <a:prstDash val="solid"/>
                    </a:lnR>
                    <a:lnB w="9525">
                      <a:solidFill>
                        <a:srgbClr val="DDE5EA"/>
                      </a:solidFill>
                      <a:prstDash val="solid"/>
                    </a:lnB>
                  </a:tcPr>
                </a:tc>
              </a:tr>
              <a:tr h="415018">
                <a:tc>
                  <a:txBody>
                    <a:bodyPr/>
                    <a:lstStyle/>
                    <a:p>
                      <a:r>
                        <a:rPr sz="1650">
                          <a:solidFill>
                            <a:srgbClr val="173447"/>
                          </a:solidFill>
                          <a:latin typeface="Arial"/>
                          <a:ea typeface="Arial"/>
                          <a:cs typeface="Arial"/>
                        </a:rPr>
                        <a:t>8</a:t>
                      </a:r>
                    </a:p>
                  </a:txBody>
                  <a:tcPr marL="114300" marR="114300" marT="76200" marB="762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8 a 32</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0.009</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0.039</a:t>
                      </a:r>
                    </a:p>
                  </a:txBody>
                  <a:tcPr marL="114300" marR="114300" marT="76200" marB="76200">
                    <a:lnR w="9525">
                      <a:solidFill>
                        <a:srgbClr val="DDE5EA"/>
                      </a:solidFill>
                      <a:prstDash val="solid"/>
                    </a:lnR>
                    <a:lnB w="9525">
                      <a:solidFill>
                        <a:srgbClr val="DDE5EA"/>
                      </a:solidFill>
                      <a:prstDash val="solid"/>
                    </a:lnB>
                  </a:tcPr>
                </a:tc>
              </a:tr>
              <a:tr h="415018">
                <a:tc>
                  <a:txBody>
                    <a:bodyPr/>
                    <a:lstStyle/>
                    <a:p>
                      <a:r>
                        <a:rPr sz="1650">
                          <a:solidFill>
                            <a:srgbClr val="173447"/>
                          </a:solidFill>
                          <a:latin typeface="Arial"/>
                          <a:ea typeface="Arial"/>
                          <a:cs typeface="Arial"/>
                        </a:rPr>
                        <a:t>32</a:t>
                      </a:r>
                    </a:p>
                  </a:txBody>
                  <a:tcPr marL="114300" marR="114300" marT="76200" marB="762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1 a 2</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-0.022</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0.017</a:t>
                      </a:r>
                    </a:p>
                  </a:txBody>
                  <a:tcPr marL="114300" marR="114300" marT="76200" marB="76200">
                    <a:lnR w="9525">
                      <a:solidFill>
                        <a:srgbClr val="DDE5EA"/>
                      </a:solidFill>
                      <a:prstDash val="solid"/>
                    </a:lnR>
                    <a:lnB w="9525">
                      <a:solidFill>
                        <a:srgbClr val="DDE5EA"/>
                      </a:solidFill>
                      <a:prstDash val="solid"/>
                    </a:lnB>
                  </a:tcPr>
                </a:tc>
              </a:tr>
              <a:tr h="415018">
                <a:tc>
                  <a:txBody>
                    <a:bodyPr/>
                    <a:lstStyle/>
                    <a:p>
                      <a:r>
                        <a:rPr sz="1650">
                          <a:solidFill>
                            <a:srgbClr val="173447"/>
                          </a:solidFill>
                          <a:latin typeface="Arial"/>
                          <a:ea typeface="Arial"/>
                          <a:cs typeface="Arial"/>
                        </a:rPr>
                        <a:t>32</a:t>
                      </a:r>
                    </a:p>
                  </a:txBody>
                  <a:tcPr marL="114300" marR="114300" marT="76200" marB="762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2 a 8</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-0.002</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0.020</a:t>
                      </a:r>
                    </a:p>
                  </a:txBody>
                  <a:tcPr marL="114300" marR="114300" marT="76200" marB="76200">
                    <a:lnR w="9525">
                      <a:solidFill>
                        <a:srgbClr val="DDE5EA"/>
                      </a:solidFill>
                      <a:prstDash val="solid"/>
                    </a:lnR>
                    <a:lnB w="9525">
                      <a:solidFill>
                        <a:srgbClr val="DDE5EA"/>
                      </a:solidFill>
                      <a:prstDash val="solid"/>
                    </a:lnB>
                  </a:tcPr>
                </a:tc>
              </a:tr>
              <a:tr h="415018">
                <a:tc>
                  <a:txBody>
                    <a:bodyPr/>
                    <a:lstStyle/>
                    <a:p>
                      <a:r>
                        <a:rPr sz="1650">
                          <a:solidFill>
                            <a:srgbClr val="173447"/>
                          </a:solidFill>
                          <a:latin typeface="Arial"/>
                          <a:ea typeface="Arial"/>
                          <a:cs typeface="Arial"/>
                        </a:rPr>
                        <a:t>32</a:t>
                      </a:r>
                    </a:p>
                  </a:txBody>
                  <a:tcPr marL="114300" marR="114300" marT="76200" marB="762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8 a 32</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-0.002</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0.042</a:t>
                      </a:r>
                    </a:p>
                  </a:txBody>
                  <a:tcPr marL="114300" marR="114300" marT="76200" marB="76200">
                    <a:lnR w="9525">
                      <a:solidFill>
                        <a:srgbClr val="DDE5EA"/>
                      </a:solidFill>
                      <a:prstDash val="solid"/>
                    </a:lnR>
                    <a:lnB w="9525">
                      <a:solidFill>
                        <a:srgbClr val="DDE5EA"/>
                      </a:solidFill>
                      <a:prstDash val="solid"/>
                    </a:lnB>
                  </a:tcPr>
                </a:tc>
              </a:tr>
              <a:tr h="415018">
                <a:tc>
                  <a:txBody>
                    <a:bodyPr/>
                    <a:lstStyle/>
                    <a:p>
                      <a:r>
                        <a:rPr sz="1650">
                          <a:solidFill>
                            <a:srgbClr val="173447"/>
                          </a:solidFill>
                          <a:latin typeface="Arial"/>
                          <a:ea typeface="Arial"/>
                          <a:cs typeface="Arial"/>
                        </a:rPr>
                        <a:t>32</a:t>
                      </a:r>
                    </a:p>
                  </a:txBody>
                  <a:tcPr marL="114300" marR="114300" marT="76200" marB="762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32 a 64</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-0.016</a:t>
                      </a:r>
                    </a:p>
                  </a:txBody>
                  <a:tcPr marL="114300" marR="114300" marT="76200" marB="7620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0.023</a:t>
                      </a:r>
                    </a:p>
                  </a:txBody>
                  <a:tcPr marL="114300" marR="114300" marT="76200" marB="76200">
                    <a:lnR w="9525">
                      <a:solidFill>
                        <a:srgbClr val="DDE5EA"/>
                      </a:solidFill>
                      <a:prstDash val="solid"/>
                    </a:lnR>
                    <a:lnB w="9525">
                      <a:solidFill>
                        <a:srgbClr val="DDE5EA"/>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E5EAA830-3AB6-4455-AFAC-7DD057B69776}"/>
              </a:ext>
            </a:extLst>
          </p:cNvPr>
          <p:cNvSpPr>
            <a:spLocks xmlns:a="http://schemas.openxmlformats.org/drawingml/2006/main" noGrp="1"/>
          </p:cNvSpPr>
          <p:nvPr/>
        </p:nvSpPr>
        <p:spPr>
          <a:xfrm xmlns:a="http://schemas.openxmlformats.org/drawingml/2006/main">
            <a:off x="647700" y="53721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447"/>
                </a:solidFill>
                <a:latin typeface="Arial"/>
                <a:ea typeface="Arial"/>
                <a:cs typeface="Arial"/>
              </a:defRPr>
            </a:defPPr>
            <a:lvl1pPr>
              <a:defRPr sz="2175" b="1">
                <a:solidFill>
                  <a:srgbClr val="173447"/>
                </a:solidFill>
                <a:latin typeface="Arial"/>
                <a:ea typeface="Arial"/>
                <a:cs typeface="Arial"/>
              </a:defRPr>
            </a:lvl1pPr>
            <a:lvl2pPr>
              <a:defRPr sz="2175" b="1">
                <a:solidFill>
                  <a:srgbClr val="173447"/>
                </a:solidFill>
                <a:latin typeface="Arial"/>
                <a:ea typeface="Arial"/>
                <a:cs typeface="Arial"/>
              </a:defRPr>
            </a:lvl2pPr>
            <a:lvl3pPr>
              <a:defRPr sz="2175" b="1">
                <a:solidFill>
                  <a:srgbClr val="173447"/>
                </a:solidFill>
                <a:latin typeface="Arial"/>
                <a:ea typeface="Arial"/>
                <a:cs typeface="Arial"/>
              </a:defRPr>
            </a:lvl3pPr>
            <a:lvl4pPr>
              <a:defRPr sz="2175" b="1">
                <a:solidFill>
                  <a:srgbClr val="173447"/>
                </a:solidFill>
                <a:latin typeface="Arial"/>
                <a:ea typeface="Arial"/>
                <a:cs typeface="Arial"/>
              </a:defRPr>
            </a:lvl4pPr>
            <a:lvl5pPr>
              <a:defRPr sz="2175" b="1">
                <a:solidFill>
                  <a:srgbClr val="173447"/>
                </a:solidFill>
                <a:latin typeface="Arial"/>
                <a:ea typeface="Arial"/>
                <a:cs typeface="Arial"/>
              </a:defRPr>
            </a:lvl5pPr>
            <a:lvl6pPr>
              <a:defRPr sz="2175" b="1">
                <a:solidFill>
                  <a:srgbClr val="173447"/>
                </a:solidFill>
                <a:latin typeface="Arial"/>
                <a:ea typeface="Arial"/>
                <a:cs typeface="Arial"/>
              </a:defRPr>
            </a:lvl6pPr>
            <a:lvl7pPr>
              <a:defRPr sz="2175" b="1">
                <a:solidFill>
                  <a:srgbClr val="173447"/>
                </a:solidFill>
                <a:latin typeface="Arial"/>
                <a:ea typeface="Arial"/>
                <a:cs typeface="Arial"/>
              </a:defRPr>
            </a:lvl7pPr>
            <a:lvl8pPr>
              <a:defRPr sz="2175" b="1">
                <a:solidFill>
                  <a:srgbClr val="173447"/>
                </a:solidFill>
                <a:latin typeface="Arial"/>
                <a:ea typeface="Arial"/>
                <a:cs typeface="Arial"/>
              </a:defRPr>
            </a:lvl8pPr>
            <a:lvl9pPr>
              <a:defRPr sz="2175" b="1">
                <a:solidFill>
                  <a:srgbClr val="173447"/>
                </a:solidFill>
                <a:latin typeface="Arial"/>
                <a:ea typeface="Arial"/>
                <a:cs typeface="Arial"/>
              </a:defRPr>
            </a:lvl9pPr>
          </a:lstStyle>
          <a:p xmlns:a="http://schemas.openxmlformats.org/drawingml/2006/main">
            <a:pPr>
              <a:defRPr sz="2175" b="1">
                <a:solidFill>
                  <a:srgbClr val="173447"/>
                </a:solidFill>
                <a:latin typeface="Arial"/>
                <a:ea typeface="Arial"/>
                <a:cs typeface="Arial"/>
              </a:defRPr>
            </a:pPr>
            <a:r>
              <a:rPr sz="2175" b="1">
                <a:solidFill>
                  <a:srgbClr val="173447"/>
                </a:solidFill>
                <a:latin typeface="Arial"/>
                <a:ea typeface="Arial"/>
                <a:cs typeface="Arial"/>
              </a:rPr>
              <a:t>La comprobación con r=64 extiende el dominio original [2,32].</a:t>
            </a:r>
          </a:p>
        </p:txBody>
      </p:sp>
      <p:sp>
        <p:nvSpPr>
          <p:cNvPr id="5" name="">
            <a:extLst xmlns:a="http://schemas.openxmlformats.org/drawingml/2006/main">
              <a:ext uri="{FF2B5EF4-FFF2-40B4-BE49-F238E27FC236}">
                <a16:creationId xmlns:a16="http://schemas.microsoft.com/office/drawing/2014/main" id="{8A0B27F0-5422-4C86-89F1-B6268435E403}"/>
              </a:ext>
            </a:extLst>
          </p:cNvPr>
          <p:cNvSpPr>
            <a:spLocks xmlns:a="http://schemas.openxmlformats.org/drawingml/2006/main" noGrp="1"/>
          </p:cNvSpPr>
          <p:nvPr/>
        </p:nvSpPr>
        <p:spPr>
          <a:xfrm xmlns:a="http://schemas.openxmlformats.org/drawingml/2006/main">
            <a:off x="647700" y="60579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A6B7C"/>
                </a:solidFill>
                <a:latin typeface="Arial"/>
                <a:ea typeface="Arial"/>
                <a:cs typeface="Arial"/>
              </a:defRPr>
            </a:defPPr>
            <a:lvl1pPr>
              <a:defRPr sz="1800" b="0">
                <a:solidFill>
                  <a:srgbClr val="5A6B7C"/>
                </a:solidFill>
                <a:latin typeface="Arial"/>
                <a:ea typeface="Arial"/>
                <a:cs typeface="Arial"/>
              </a:defRPr>
            </a:lvl1pPr>
            <a:lvl2pPr>
              <a:defRPr sz="1800" b="0">
                <a:solidFill>
                  <a:srgbClr val="5A6B7C"/>
                </a:solidFill>
                <a:latin typeface="Arial"/>
                <a:ea typeface="Arial"/>
                <a:cs typeface="Arial"/>
              </a:defRPr>
            </a:lvl2pPr>
            <a:lvl3pPr>
              <a:defRPr sz="1800" b="0">
                <a:solidFill>
                  <a:srgbClr val="5A6B7C"/>
                </a:solidFill>
                <a:latin typeface="Arial"/>
                <a:ea typeface="Arial"/>
                <a:cs typeface="Arial"/>
              </a:defRPr>
            </a:lvl3pPr>
            <a:lvl4pPr>
              <a:defRPr sz="1800" b="0">
                <a:solidFill>
                  <a:srgbClr val="5A6B7C"/>
                </a:solidFill>
                <a:latin typeface="Arial"/>
                <a:ea typeface="Arial"/>
                <a:cs typeface="Arial"/>
              </a:defRPr>
            </a:lvl4pPr>
            <a:lvl5pPr>
              <a:defRPr sz="1800" b="0">
                <a:solidFill>
                  <a:srgbClr val="5A6B7C"/>
                </a:solidFill>
                <a:latin typeface="Arial"/>
                <a:ea typeface="Arial"/>
                <a:cs typeface="Arial"/>
              </a:defRPr>
            </a:lvl5pPr>
            <a:lvl6pPr>
              <a:defRPr sz="1800" b="0">
                <a:solidFill>
                  <a:srgbClr val="5A6B7C"/>
                </a:solidFill>
                <a:latin typeface="Arial"/>
                <a:ea typeface="Arial"/>
                <a:cs typeface="Arial"/>
              </a:defRPr>
            </a:lvl6pPr>
            <a:lvl7pPr>
              <a:defRPr sz="1800" b="0">
                <a:solidFill>
                  <a:srgbClr val="5A6B7C"/>
                </a:solidFill>
                <a:latin typeface="Arial"/>
                <a:ea typeface="Arial"/>
                <a:cs typeface="Arial"/>
              </a:defRPr>
            </a:lvl7pPr>
            <a:lvl8pPr>
              <a:defRPr sz="1800" b="0">
                <a:solidFill>
                  <a:srgbClr val="5A6B7C"/>
                </a:solidFill>
                <a:latin typeface="Arial"/>
                <a:ea typeface="Arial"/>
                <a:cs typeface="Arial"/>
              </a:defRPr>
            </a:lvl8pPr>
            <a:lvl9pPr>
              <a:defRPr sz="1800" b="0">
                <a:solidFill>
                  <a:srgbClr val="5A6B7C"/>
                </a:solidFill>
                <a:latin typeface="Arial"/>
                <a:ea typeface="Arial"/>
                <a:cs typeface="Arial"/>
              </a:defRPr>
            </a:lvl9pPr>
          </a:lstStyle>
          <a:p xmlns:a="http://schemas.openxmlformats.org/drawingml/2006/main">
            <a:pPr>
              <a:defRPr sz="1800" b="0">
                <a:solidFill>
                  <a:srgbClr val="5A6B7C"/>
                </a:solidFill>
                <a:latin typeface="Arial"/>
                <a:ea typeface="Arial"/>
                <a:cs typeface="Arial"/>
              </a:defRPr>
            </a:pPr>
            <a:r>
              <a:rPr sz="1800" b="0">
                <a:solidFill>
                  <a:srgbClr val="5A6B7C"/>
                </a:solidFill>
                <a:latin typeface="Arial"/>
                <a:ea typeface="Arial"/>
                <a:cs typeface="Arial"/>
              </a:rPr>
              <a:t>Una p no significativa no demuestra saturación. El límite debe quedar bajo 0.02.</a:t>
            </a:r>
          </a:p>
        </p:txBody>
      </p:sp>
    </p:spTree>
    <p:extLst>
      <p:ext uri="{BB962C8B-B14F-4D97-AF65-F5344CB8AC3E}">
        <p14:creationId xmlns:p14="http://schemas.microsoft.com/office/powerpoint/2010/main" val="1278639899"/>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AA8CF7-97AF-4075-8B98-098A440C34AB}"/>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Desempeño y recursos por configuración</a:t>
            </a:r>
          </a:p>
        </p:txBody>
      </p:sp>
      <p:graphicFrame>
        <p:nvGraphicFramePr>
          <p:cNvPr id="2" name="">
            <a:extLst xmlns:a="http://schemas.openxmlformats.org/drawingml/2006/main">
              <a:ext uri="{FF2B5EF4-FFF2-40B4-BE49-F238E27FC236}">
                <a16:creationId xmlns:a16="http://schemas.microsoft.com/office/drawing/2014/main" id="{C1949919-0AAE-49BF-A5DD-59EC34740D69}"/>
              </a:ext>
            </a:extLst>
          </p:cNvPr>
          <p:cNvGraphicFramePr/>
          <p:nvPr/>
        </p:nvGraphicFramePr>
        <p:xfrm>
          <a:off xmlns:a="http://schemas.openxmlformats.org/drawingml/2006/main" x="609600" y="1476375"/>
          <a:ext xmlns:a="http://schemas.openxmlformats.org/drawingml/2006/main" cx="10972800" cy="4191000"/>
        </p:xfrm>
        <a:graphic xmlns:a="http://schemas.openxmlformats.org/drawingml/2006/main">
          <a:graphicData uri="http://schemas.openxmlformats.org/drawingml/2006/table">
            <a:tbl>
              <a:tblPr/>
              <a:tblGrid>
                <a:gridCol w="2095500"/>
                <a:gridCol w="1905000"/>
                <a:gridCol w="2476500"/>
                <a:gridCol w="2286000"/>
                <a:gridCol w="2209800"/>
              </a:tblGrid>
              <a:tr h="465667">
                <a:tc>
                  <a:txBody>
                    <a:bodyPr/>
                    <a:lstStyle/>
                    <a:p>
                      <a:r>
                        <a:rPr sz="1650" b="1">
                          <a:solidFill>
                            <a:srgbClr val="167C80"/>
                          </a:solidFill>
                          <a:latin typeface="Arial"/>
                          <a:ea typeface="Arial"/>
                          <a:cs typeface="Arial"/>
                        </a:rPr>
                        <a:t>r / alpha</a:t>
                      </a:r>
                    </a:p>
                  </a:txBody>
                  <a:tcPr marL="114300" marR="114300" marT="57150" marB="57150">
                    <a:lnL w="9525">
                      <a:solidFill>
                        <a:srgbClr val="DDE5EA"/>
                      </a:solidFill>
                      <a:prstDash val="solid"/>
                    </a:lnL>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650" b="1">
                          <a:solidFill>
                            <a:srgbClr val="167C80"/>
                          </a:solidFill>
                          <a:latin typeface="Arial"/>
                          <a:ea typeface="Arial"/>
                          <a:cs typeface="Arial"/>
                        </a:rPr>
                        <a:t>F1 valid.</a:t>
                      </a:r>
                    </a:p>
                  </a:txBody>
                  <a:tcPr marL="114300" marR="114300" marT="57150" marB="5715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650" b="1">
                          <a:solidFill>
                            <a:srgbClr val="167C80"/>
                          </a:solidFill>
                          <a:latin typeface="Arial"/>
                          <a:ea typeface="Arial"/>
                          <a:cs typeface="Arial"/>
                        </a:rPr>
                        <a:t>Tiempo (min)</a:t>
                      </a:r>
                    </a:p>
                  </a:txBody>
                  <a:tcPr marL="114300" marR="114300" marT="57150" marB="5715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650" b="1">
                          <a:solidFill>
                            <a:srgbClr val="167C80"/>
                          </a:solidFill>
                          <a:latin typeface="Arial"/>
                          <a:ea typeface="Arial"/>
                          <a:cs typeface="Arial"/>
                        </a:rPr>
                        <a:t>VRAM (GiB)</a:t>
                      </a:r>
                    </a:p>
                  </a:txBody>
                  <a:tcPr marL="114300" marR="114300" marT="57150" marB="5715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650" b="1">
                          <a:solidFill>
                            <a:srgbClr val="167C80"/>
                          </a:solidFill>
                          <a:latin typeface="Arial"/>
                          <a:ea typeface="Arial"/>
                          <a:cs typeface="Arial"/>
                        </a:rPr>
                        <a:t>Latencia (s)</a:t>
                      </a:r>
                    </a:p>
                  </a:txBody>
                  <a:tcPr marL="114300" marR="114300" marT="57150" marB="5715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r>
              <a:tr h="465667">
                <a:tc>
                  <a:txBody>
                    <a:bodyPr/>
                    <a:lstStyle/>
                    <a:p>
                      <a:r>
                        <a:rPr sz="1650">
                          <a:solidFill>
                            <a:srgbClr val="173447"/>
                          </a:solidFill>
                          <a:latin typeface="Arial"/>
                          <a:ea typeface="Arial"/>
                          <a:cs typeface="Arial"/>
                        </a:rPr>
                        <a:t>1 / 32</a:t>
                      </a:r>
                    </a:p>
                  </a:txBody>
                  <a:tcPr marL="114300" marR="114300" marT="57150" marB="5715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0.828</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3.74</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3.20</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1.97</a:t>
                      </a:r>
                    </a:p>
                  </a:txBody>
                  <a:tcPr marL="114300" marR="114300" marT="57150" marB="57150">
                    <a:lnR w="9525">
                      <a:solidFill>
                        <a:srgbClr val="DDE5EA"/>
                      </a:solidFill>
                      <a:prstDash val="solid"/>
                    </a:lnR>
                    <a:lnB w="9525">
                      <a:solidFill>
                        <a:srgbClr val="DDE5EA"/>
                      </a:solidFill>
                      <a:prstDash val="solid"/>
                    </a:lnB>
                  </a:tcPr>
                </a:tc>
              </a:tr>
              <a:tr h="465667">
                <a:tc>
                  <a:txBody>
                    <a:bodyPr/>
                    <a:lstStyle/>
                    <a:p>
                      <a:r>
                        <a:rPr sz="1650">
                          <a:solidFill>
                            <a:srgbClr val="173447"/>
                          </a:solidFill>
                          <a:latin typeface="Arial"/>
                          <a:ea typeface="Arial"/>
                          <a:cs typeface="Arial"/>
                        </a:rPr>
                        <a:t>2 / 8</a:t>
                      </a:r>
                    </a:p>
                  </a:txBody>
                  <a:tcPr marL="114300" marR="114300" marT="57150" marB="5715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0.732</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3.78</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3.20</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1.53</a:t>
                      </a:r>
                    </a:p>
                  </a:txBody>
                  <a:tcPr marL="114300" marR="114300" marT="57150" marB="57150">
                    <a:lnR w="9525">
                      <a:solidFill>
                        <a:srgbClr val="DDE5EA"/>
                      </a:solidFill>
                      <a:prstDash val="solid"/>
                    </a:lnR>
                    <a:lnB w="9525">
                      <a:solidFill>
                        <a:srgbClr val="DDE5EA"/>
                      </a:solidFill>
                      <a:prstDash val="solid"/>
                    </a:lnB>
                  </a:tcPr>
                </a:tc>
              </a:tr>
              <a:tr h="465667">
                <a:tc>
                  <a:txBody>
                    <a:bodyPr/>
                    <a:lstStyle/>
                    <a:p>
                      <a:r>
                        <a:rPr sz="1650">
                          <a:solidFill>
                            <a:srgbClr val="173447"/>
                          </a:solidFill>
                          <a:latin typeface="Arial"/>
                          <a:ea typeface="Arial"/>
                          <a:cs typeface="Arial"/>
                        </a:rPr>
                        <a:t>2 / 32</a:t>
                      </a:r>
                    </a:p>
                  </a:txBody>
                  <a:tcPr marL="114300" marR="114300" marT="57150" marB="5715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0.806</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3.65</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3.20</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1.64</a:t>
                      </a:r>
                    </a:p>
                  </a:txBody>
                  <a:tcPr marL="114300" marR="114300" marT="57150" marB="57150">
                    <a:lnR w="9525">
                      <a:solidFill>
                        <a:srgbClr val="DDE5EA"/>
                      </a:solidFill>
                      <a:prstDash val="solid"/>
                    </a:lnR>
                    <a:lnB w="9525">
                      <a:solidFill>
                        <a:srgbClr val="DDE5EA"/>
                      </a:solidFill>
                      <a:prstDash val="solid"/>
                    </a:lnB>
                  </a:tcPr>
                </a:tc>
              </a:tr>
              <a:tr h="465667">
                <a:tc>
                  <a:txBody>
                    <a:bodyPr/>
                    <a:lstStyle/>
                    <a:p>
                      <a:r>
                        <a:rPr sz="1650">
                          <a:solidFill>
                            <a:srgbClr val="173447"/>
                          </a:solidFill>
                          <a:latin typeface="Arial"/>
                          <a:ea typeface="Arial"/>
                          <a:cs typeface="Arial"/>
                        </a:rPr>
                        <a:t>8 / 8</a:t>
                      </a:r>
                    </a:p>
                  </a:txBody>
                  <a:tcPr marL="114300" marR="114300" marT="57150" marB="5715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0.730</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3.52</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3.25</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1.61</a:t>
                      </a:r>
                    </a:p>
                  </a:txBody>
                  <a:tcPr marL="114300" marR="114300" marT="57150" marB="57150">
                    <a:lnR w="9525">
                      <a:solidFill>
                        <a:srgbClr val="DDE5EA"/>
                      </a:solidFill>
                      <a:prstDash val="solid"/>
                    </a:lnR>
                    <a:lnB w="9525">
                      <a:solidFill>
                        <a:srgbClr val="DDE5EA"/>
                      </a:solidFill>
                      <a:prstDash val="solid"/>
                    </a:lnB>
                  </a:tcPr>
                </a:tc>
              </a:tr>
              <a:tr h="465667">
                <a:tc>
                  <a:txBody>
                    <a:bodyPr/>
                    <a:lstStyle/>
                    <a:p>
                      <a:r>
                        <a:rPr sz="1650">
                          <a:solidFill>
                            <a:srgbClr val="173447"/>
                          </a:solidFill>
                          <a:latin typeface="Arial"/>
                          <a:ea typeface="Arial"/>
                          <a:cs typeface="Arial"/>
                        </a:rPr>
                        <a:t>8 / 32</a:t>
                      </a:r>
                    </a:p>
                  </a:txBody>
                  <a:tcPr marL="114300" marR="114300" marT="57150" marB="5715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0.804</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3.62</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3.25</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1.63</a:t>
                      </a:r>
                    </a:p>
                  </a:txBody>
                  <a:tcPr marL="114300" marR="114300" marT="57150" marB="57150">
                    <a:lnR w="9525">
                      <a:solidFill>
                        <a:srgbClr val="DDE5EA"/>
                      </a:solidFill>
                      <a:prstDash val="solid"/>
                    </a:lnR>
                    <a:lnB w="9525">
                      <a:solidFill>
                        <a:srgbClr val="DDE5EA"/>
                      </a:solidFill>
                      <a:prstDash val="solid"/>
                    </a:lnB>
                  </a:tcPr>
                </a:tc>
              </a:tr>
              <a:tr h="465667">
                <a:tc>
                  <a:txBody>
                    <a:bodyPr/>
                    <a:lstStyle/>
                    <a:p>
                      <a:r>
                        <a:rPr sz="1650">
                          <a:solidFill>
                            <a:srgbClr val="173447"/>
                          </a:solidFill>
                          <a:latin typeface="Arial"/>
                          <a:ea typeface="Arial"/>
                          <a:cs typeface="Arial"/>
                        </a:rPr>
                        <a:t>32 / 8</a:t>
                      </a:r>
                    </a:p>
                  </a:txBody>
                  <a:tcPr marL="114300" marR="114300" marT="57150" marB="5715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0.739</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3.61</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3.43</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1.64</a:t>
                      </a:r>
                    </a:p>
                  </a:txBody>
                  <a:tcPr marL="114300" marR="114300" marT="57150" marB="57150">
                    <a:lnR w="9525">
                      <a:solidFill>
                        <a:srgbClr val="DDE5EA"/>
                      </a:solidFill>
                      <a:prstDash val="solid"/>
                    </a:lnR>
                    <a:lnB w="9525">
                      <a:solidFill>
                        <a:srgbClr val="DDE5EA"/>
                      </a:solidFill>
                      <a:prstDash val="solid"/>
                    </a:lnB>
                  </a:tcPr>
                </a:tc>
              </a:tr>
              <a:tr h="465667">
                <a:tc>
                  <a:txBody>
                    <a:bodyPr/>
                    <a:lstStyle/>
                    <a:p>
                      <a:r>
                        <a:rPr sz="1650">
                          <a:solidFill>
                            <a:srgbClr val="173447"/>
                          </a:solidFill>
                          <a:latin typeface="Arial"/>
                          <a:ea typeface="Arial"/>
                          <a:cs typeface="Arial"/>
                        </a:rPr>
                        <a:t>32 / 32</a:t>
                      </a:r>
                    </a:p>
                  </a:txBody>
                  <a:tcPr marL="114300" marR="114300" marT="57150" marB="5715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0.802</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3.77</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3.43</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1.65</a:t>
                      </a:r>
                    </a:p>
                  </a:txBody>
                  <a:tcPr marL="114300" marR="114300" marT="57150" marB="57150">
                    <a:lnR w="9525">
                      <a:solidFill>
                        <a:srgbClr val="DDE5EA"/>
                      </a:solidFill>
                      <a:prstDash val="solid"/>
                    </a:lnR>
                    <a:lnB w="9525">
                      <a:solidFill>
                        <a:srgbClr val="DDE5EA"/>
                      </a:solidFill>
                      <a:prstDash val="solid"/>
                    </a:lnB>
                  </a:tcPr>
                </a:tc>
              </a:tr>
              <a:tr h="465667">
                <a:tc>
                  <a:txBody>
                    <a:bodyPr/>
                    <a:lstStyle/>
                    <a:p>
                      <a:r>
                        <a:rPr sz="1650">
                          <a:solidFill>
                            <a:srgbClr val="173447"/>
                          </a:solidFill>
                          <a:latin typeface="Arial"/>
                          <a:ea typeface="Arial"/>
                          <a:cs typeface="Arial"/>
                        </a:rPr>
                        <a:t>64 / 32</a:t>
                      </a:r>
                    </a:p>
                  </a:txBody>
                  <a:tcPr marL="114300" marR="114300" marT="57150" marB="5715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0.786</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5.66</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3.70</a:t>
                      </a:r>
                    </a:p>
                  </a:txBody>
                  <a:tcPr marL="114300" marR="114300" marT="57150" marB="57150">
                    <a:lnR w="9525">
                      <a:solidFill>
                        <a:srgbClr val="DDE5EA"/>
                      </a:solidFill>
                      <a:prstDash val="solid"/>
                    </a:lnR>
                    <a:lnB w="9525">
                      <a:solidFill>
                        <a:srgbClr val="DDE5EA"/>
                      </a:solidFill>
                      <a:prstDash val="solid"/>
                    </a:lnB>
                  </a:tcPr>
                </a:tc>
                <a:tc>
                  <a:txBody>
                    <a:bodyPr/>
                    <a:lstStyle/>
                    <a:p>
                      <a:r>
                        <a:rPr sz="1650">
                          <a:solidFill>
                            <a:srgbClr val="173447"/>
                          </a:solidFill>
                          <a:latin typeface="Arial"/>
                          <a:ea typeface="Arial"/>
                          <a:cs typeface="Arial"/>
                        </a:rPr>
                        <a:t>2.26</a:t>
                      </a:r>
                    </a:p>
                  </a:txBody>
                  <a:tcPr marL="114300" marR="114300" marT="57150" marB="57150">
                    <a:lnR w="9525">
                      <a:solidFill>
                        <a:srgbClr val="DDE5EA"/>
                      </a:solidFill>
                      <a:prstDash val="solid"/>
                    </a:lnR>
                    <a:lnB w="9525">
                      <a:solidFill>
                        <a:srgbClr val="DDE5EA"/>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46BF91EB-7D6F-4E35-889D-398CE56BBD44}"/>
              </a:ext>
            </a:extLst>
          </p:cNvPr>
          <p:cNvSpPr>
            <a:spLocks xmlns:a="http://schemas.openxmlformats.org/drawingml/2006/main" noGrp="1"/>
          </p:cNvSpPr>
          <p:nvPr/>
        </p:nvSpPr>
        <p:spPr>
          <a:xfrm xmlns:a="http://schemas.openxmlformats.org/drawingml/2006/main">
            <a:off x="6477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7C80"/>
                </a:solidFill>
                <a:latin typeface="Arial"/>
                <a:ea typeface="Arial"/>
                <a:cs typeface="Arial"/>
              </a:defRPr>
            </a:defPPr>
            <a:lvl1pPr>
              <a:defRPr sz="2025" b="1">
                <a:solidFill>
                  <a:srgbClr val="167C80"/>
                </a:solidFill>
                <a:latin typeface="Arial"/>
                <a:ea typeface="Arial"/>
                <a:cs typeface="Arial"/>
              </a:defRPr>
            </a:lvl1pPr>
            <a:lvl2pPr>
              <a:defRPr sz="2025" b="1">
                <a:solidFill>
                  <a:srgbClr val="167C80"/>
                </a:solidFill>
                <a:latin typeface="Arial"/>
                <a:ea typeface="Arial"/>
                <a:cs typeface="Arial"/>
              </a:defRPr>
            </a:lvl2pPr>
            <a:lvl3pPr>
              <a:defRPr sz="2025" b="1">
                <a:solidFill>
                  <a:srgbClr val="167C80"/>
                </a:solidFill>
                <a:latin typeface="Arial"/>
                <a:ea typeface="Arial"/>
                <a:cs typeface="Arial"/>
              </a:defRPr>
            </a:lvl3pPr>
            <a:lvl4pPr>
              <a:defRPr sz="2025" b="1">
                <a:solidFill>
                  <a:srgbClr val="167C80"/>
                </a:solidFill>
                <a:latin typeface="Arial"/>
                <a:ea typeface="Arial"/>
                <a:cs typeface="Arial"/>
              </a:defRPr>
            </a:lvl4pPr>
            <a:lvl5pPr>
              <a:defRPr sz="2025" b="1">
                <a:solidFill>
                  <a:srgbClr val="167C80"/>
                </a:solidFill>
                <a:latin typeface="Arial"/>
                <a:ea typeface="Arial"/>
                <a:cs typeface="Arial"/>
              </a:defRPr>
            </a:lvl5pPr>
            <a:lvl6pPr>
              <a:defRPr sz="2025" b="1">
                <a:solidFill>
                  <a:srgbClr val="167C80"/>
                </a:solidFill>
                <a:latin typeface="Arial"/>
                <a:ea typeface="Arial"/>
                <a:cs typeface="Arial"/>
              </a:defRPr>
            </a:lvl6pPr>
            <a:lvl7pPr>
              <a:defRPr sz="2025" b="1">
                <a:solidFill>
                  <a:srgbClr val="167C80"/>
                </a:solidFill>
                <a:latin typeface="Arial"/>
                <a:ea typeface="Arial"/>
                <a:cs typeface="Arial"/>
              </a:defRPr>
            </a:lvl7pPr>
            <a:lvl8pPr>
              <a:defRPr sz="2025" b="1">
                <a:solidFill>
                  <a:srgbClr val="167C80"/>
                </a:solidFill>
                <a:latin typeface="Arial"/>
                <a:ea typeface="Arial"/>
                <a:cs typeface="Arial"/>
              </a:defRPr>
            </a:lvl8pPr>
            <a:lvl9pPr>
              <a:defRPr sz="2025" b="1">
                <a:solidFill>
                  <a:srgbClr val="167C80"/>
                </a:solidFill>
                <a:latin typeface="Arial"/>
                <a:ea typeface="Arial"/>
                <a:cs typeface="Arial"/>
              </a:defRPr>
            </a:lvl9pPr>
          </a:lstStyle>
          <a:p xmlns:a="http://schemas.openxmlformats.org/drawingml/2006/main">
            <a:pPr>
              <a:defRPr sz="2025" b="1">
                <a:solidFill>
                  <a:srgbClr val="167C80"/>
                </a:solidFill>
                <a:latin typeface="Arial"/>
                <a:ea typeface="Arial"/>
                <a:cs typeface="Arial"/>
              </a:defRPr>
            </a:pPr>
            <a:r>
              <a:rPr sz="2025" b="1">
                <a:solidFill>
                  <a:srgbClr val="167C80"/>
                </a:solidFill>
                <a:latin typeface="Arial"/>
                <a:ea typeface="Arial"/>
                <a:cs typeface="Arial"/>
              </a:rPr>
              <a:t>g002 · RTX A6000 · misma asignación Slurm</a:t>
            </a:r>
          </a:p>
        </p:txBody>
      </p:sp>
      <p:sp>
        <p:nvSpPr>
          <p:cNvPr id="4" name="">
            <a:extLst xmlns:a="http://schemas.openxmlformats.org/drawingml/2006/main">
              <a:ext uri="{FF2B5EF4-FFF2-40B4-BE49-F238E27FC236}">
                <a16:creationId xmlns:a16="http://schemas.microsoft.com/office/drawing/2014/main" id="{453A3404-DFA1-4606-9ED3-D7C8B9DFCC77}"/>
              </a:ext>
            </a:extLst>
          </p:cNvPr>
          <p:cNvSpPr>
            <a:spLocks xmlns:a="http://schemas.openxmlformats.org/drawingml/2006/main" noGrp="1"/>
          </p:cNvSpPr>
          <p:nvPr/>
        </p:nvSpPr>
        <p:spPr>
          <a:xfrm xmlns:a="http://schemas.openxmlformats.org/drawingml/2006/main">
            <a:off x="647700" y="6343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A6B7C"/>
                </a:solidFill>
                <a:latin typeface="Arial"/>
                <a:ea typeface="Arial"/>
                <a:cs typeface="Arial"/>
              </a:defRPr>
            </a:defPPr>
            <a:lvl1pPr>
              <a:defRPr sz="1500" b="0">
                <a:solidFill>
                  <a:srgbClr val="5A6B7C"/>
                </a:solidFill>
                <a:latin typeface="Arial"/>
                <a:ea typeface="Arial"/>
                <a:cs typeface="Arial"/>
              </a:defRPr>
            </a:lvl1pPr>
            <a:lvl2pPr>
              <a:defRPr sz="1500" b="0">
                <a:solidFill>
                  <a:srgbClr val="5A6B7C"/>
                </a:solidFill>
                <a:latin typeface="Arial"/>
                <a:ea typeface="Arial"/>
                <a:cs typeface="Arial"/>
              </a:defRPr>
            </a:lvl2pPr>
            <a:lvl3pPr>
              <a:defRPr sz="1500" b="0">
                <a:solidFill>
                  <a:srgbClr val="5A6B7C"/>
                </a:solidFill>
                <a:latin typeface="Arial"/>
                <a:ea typeface="Arial"/>
                <a:cs typeface="Arial"/>
              </a:defRPr>
            </a:lvl3pPr>
            <a:lvl4pPr>
              <a:defRPr sz="1500" b="0">
                <a:solidFill>
                  <a:srgbClr val="5A6B7C"/>
                </a:solidFill>
                <a:latin typeface="Arial"/>
                <a:ea typeface="Arial"/>
                <a:cs typeface="Arial"/>
              </a:defRPr>
            </a:lvl4pPr>
            <a:lvl5pPr>
              <a:defRPr sz="1500" b="0">
                <a:solidFill>
                  <a:srgbClr val="5A6B7C"/>
                </a:solidFill>
                <a:latin typeface="Arial"/>
                <a:ea typeface="Arial"/>
                <a:cs typeface="Arial"/>
              </a:defRPr>
            </a:lvl5pPr>
            <a:lvl6pPr>
              <a:defRPr sz="1500" b="0">
                <a:solidFill>
                  <a:srgbClr val="5A6B7C"/>
                </a:solidFill>
                <a:latin typeface="Arial"/>
                <a:ea typeface="Arial"/>
                <a:cs typeface="Arial"/>
              </a:defRPr>
            </a:lvl6pPr>
            <a:lvl7pPr>
              <a:defRPr sz="1500" b="0">
                <a:solidFill>
                  <a:srgbClr val="5A6B7C"/>
                </a:solidFill>
                <a:latin typeface="Arial"/>
                <a:ea typeface="Arial"/>
                <a:cs typeface="Arial"/>
              </a:defRPr>
            </a:lvl7pPr>
            <a:lvl8pPr>
              <a:defRPr sz="1500" b="0">
                <a:solidFill>
                  <a:srgbClr val="5A6B7C"/>
                </a:solidFill>
                <a:latin typeface="Arial"/>
                <a:ea typeface="Arial"/>
                <a:cs typeface="Arial"/>
              </a:defRPr>
            </a:lvl8pPr>
            <a:lvl9pPr>
              <a:defRPr sz="1500" b="0">
                <a:solidFill>
                  <a:srgbClr val="5A6B7C"/>
                </a:solidFill>
                <a:latin typeface="Arial"/>
                <a:ea typeface="Arial"/>
                <a:cs typeface="Arial"/>
              </a:defRPr>
            </a:lvl9pPr>
          </a:lstStyle>
          <a:p xmlns:a="http://schemas.openxmlformats.org/drawingml/2006/main">
            <a:pPr>
              <a:defRPr sz="1500" b="0">
                <a:solidFill>
                  <a:srgbClr val="5A6B7C"/>
                </a:solidFill>
                <a:latin typeface="Arial"/>
                <a:ea typeface="Arial"/>
                <a:cs typeface="Arial"/>
              </a:defRPr>
            </a:pPr>
            <a:r>
              <a:rPr sz="1500" b="0">
                <a:solidFill>
                  <a:srgbClr val="5A6B7C"/>
                </a:solidFill>
                <a:latin typeface="Arial"/>
                <a:ea typeface="Arial"/>
                <a:cs typeface="Arial"/>
              </a:rPr>
              <a:t>Medias de dos semillas. Calentamiento excluido. GPU compartida. Latencia sin fusionar.</a:t>
            </a:r>
          </a:p>
        </p:txBody>
      </p:sp>
    </p:spTree>
    <p:extLst>
      <p:ext uri="{BB962C8B-B14F-4D97-AF65-F5344CB8AC3E}">
        <p14:creationId xmlns:p14="http://schemas.microsoft.com/office/powerpoint/2010/main" val="1979836618"/>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E34729-4649-419B-B10A-E79DEEBDF607}"/>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Elección del óptimo práctico</a:t>
            </a:r>
          </a:p>
        </p:txBody>
      </p:sp>
      <p:sp>
        <p:nvSpPr>
          <p:cNvPr id="2" name="">
            <a:extLst xmlns:a="http://schemas.openxmlformats.org/drawingml/2006/main">
              <a:ext uri="{FF2B5EF4-FFF2-40B4-BE49-F238E27FC236}">
                <a16:creationId xmlns:a16="http://schemas.microsoft.com/office/drawing/2014/main" id="{4F4DBC51-7ABD-4380-9C54-D902351DDAA7}"/>
              </a:ext>
            </a:extLst>
          </p:cNvPr>
          <p:cNvSpPr>
            <a:spLocks xmlns:a="http://schemas.openxmlformats.org/drawingml/2006/main" noGrp="1"/>
          </p:cNvSpPr>
          <p:nvPr/>
        </p:nvSpPr>
        <p:spPr>
          <a:xfrm xmlns:a="http://schemas.openxmlformats.org/drawingml/2006/main">
            <a:off x="647700" y="16954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025" b="1">
                <a:solidFill>
                  <a:srgbClr val="167C80"/>
                </a:solidFill>
                <a:latin typeface="Arial"/>
                <a:ea typeface="Arial"/>
                <a:cs typeface="Arial"/>
              </a:defRPr>
            </a:defPPr>
            <a:lvl1pPr>
              <a:defRPr sz="5025" b="1">
                <a:solidFill>
                  <a:srgbClr val="167C80"/>
                </a:solidFill>
                <a:latin typeface="Arial"/>
                <a:ea typeface="Arial"/>
                <a:cs typeface="Arial"/>
              </a:defRPr>
            </a:lvl1pPr>
            <a:lvl2pPr>
              <a:defRPr sz="5025" b="1">
                <a:solidFill>
                  <a:srgbClr val="167C80"/>
                </a:solidFill>
                <a:latin typeface="Arial"/>
                <a:ea typeface="Arial"/>
                <a:cs typeface="Arial"/>
              </a:defRPr>
            </a:lvl2pPr>
            <a:lvl3pPr>
              <a:defRPr sz="5025" b="1">
                <a:solidFill>
                  <a:srgbClr val="167C80"/>
                </a:solidFill>
                <a:latin typeface="Arial"/>
                <a:ea typeface="Arial"/>
                <a:cs typeface="Arial"/>
              </a:defRPr>
            </a:lvl3pPr>
            <a:lvl4pPr>
              <a:defRPr sz="5025" b="1">
                <a:solidFill>
                  <a:srgbClr val="167C80"/>
                </a:solidFill>
                <a:latin typeface="Arial"/>
                <a:ea typeface="Arial"/>
                <a:cs typeface="Arial"/>
              </a:defRPr>
            </a:lvl4pPr>
            <a:lvl5pPr>
              <a:defRPr sz="5025" b="1">
                <a:solidFill>
                  <a:srgbClr val="167C80"/>
                </a:solidFill>
                <a:latin typeface="Arial"/>
                <a:ea typeface="Arial"/>
                <a:cs typeface="Arial"/>
              </a:defRPr>
            </a:lvl5pPr>
            <a:lvl6pPr>
              <a:defRPr sz="5025" b="1">
                <a:solidFill>
                  <a:srgbClr val="167C80"/>
                </a:solidFill>
                <a:latin typeface="Arial"/>
                <a:ea typeface="Arial"/>
                <a:cs typeface="Arial"/>
              </a:defRPr>
            </a:lvl6pPr>
            <a:lvl7pPr>
              <a:defRPr sz="5025" b="1">
                <a:solidFill>
                  <a:srgbClr val="167C80"/>
                </a:solidFill>
                <a:latin typeface="Arial"/>
                <a:ea typeface="Arial"/>
                <a:cs typeface="Arial"/>
              </a:defRPr>
            </a:lvl7pPr>
            <a:lvl8pPr>
              <a:defRPr sz="5025" b="1">
                <a:solidFill>
                  <a:srgbClr val="167C80"/>
                </a:solidFill>
                <a:latin typeface="Arial"/>
                <a:ea typeface="Arial"/>
                <a:cs typeface="Arial"/>
              </a:defRPr>
            </a:lvl8pPr>
            <a:lvl9pPr>
              <a:defRPr sz="5025" b="1">
                <a:solidFill>
                  <a:srgbClr val="167C80"/>
                </a:solidFill>
                <a:latin typeface="Arial"/>
                <a:ea typeface="Arial"/>
                <a:cs typeface="Arial"/>
              </a:defRPr>
            </a:lvl9pPr>
          </a:lstStyle>
          <a:p xmlns:a="http://schemas.openxmlformats.org/drawingml/2006/main">
            <a:pPr>
              <a:defRPr sz="5025" b="1">
                <a:solidFill>
                  <a:srgbClr val="167C80"/>
                </a:solidFill>
                <a:latin typeface="Arial"/>
                <a:ea typeface="Arial"/>
                <a:cs typeface="Arial"/>
              </a:defRPr>
            </a:pPr>
            <a:r>
              <a:rPr sz="5025" b="1">
                <a:solidFill>
                  <a:srgbClr val="167C80"/>
                </a:solidFill>
                <a:latin typeface="Arial"/>
                <a:ea typeface="Arial"/>
                <a:cs typeface="Arial"/>
              </a:rPr>
              <a:t>r = 1     alpha = 32</a:t>
            </a:r>
          </a:p>
        </p:txBody>
      </p:sp>
      <p:sp>
        <p:nvSpPr>
          <p:cNvPr id="3" name="">
            <a:extLst xmlns:a="http://schemas.openxmlformats.org/drawingml/2006/main">
              <a:ext uri="{FF2B5EF4-FFF2-40B4-BE49-F238E27FC236}">
                <a16:creationId xmlns:a16="http://schemas.microsoft.com/office/drawing/2014/main" id="{78297213-3F39-4300-B38D-BF80991798E8}"/>
              </a:ext>
            </a:extLst>
          </p:cNvPr>
          <p:cNvSpPr>
            <a:spLocks xmlns:a="http://schemas.openxmlformats.org/drawingml/2006/main" noGrp="1"/>
          </p:cNvSpPr>
          <p:nvPr/>
        </p:nvSpPr>
        <p:spPr>
          <a:xfrm xmlns:a="http://schemas.openxmlformats.org/drawingml/2006/main">
            <a:off x="647700" y="28575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3447"/>
                </a:solidFill>
                <a:latin typeface="Arial"/>
                <a:ea typeface="Arial"/>
                <a:cs typeface="Arial"/>
              </a:defRPr>
            </a:defPPr>
            <a:lvl1pPr>
              <a:defRPr sz="2700" b="1">
                <a:solidFill>
                  <a:srgbClr val="173447"/>
                </a:solidFill>
                <a:latin typeface="Arial"/>
                <a:ea typeface="Arial"/>
                <a:cs typeface="Arial"/>
              </a:defRPr>
            </a:lvl1pPr>
            <a:lvl2pPr>
              <a:defRPr sz="2700" b="1">
                <a:solidFill>
                  <a:srgbClr val="173447"/>
                </a:solidFill>
                <a:latin typeface="Arial"/>
                <a:ea typeface="Arial"/>
                <a:cs typeface="Arial"/>
              </a:defRPr>
            </a:lvl2pPr>
            <a:lvl3pPr>
              <a:defRPr sz="2700" b="1">
                <a:solidFill>
                  <a:srgbClr val="173447"/>
                </a:solidFill>
                <a:latin typeface="Arial"/>
                <a:ea typeface="Arial"/>
                <a:cs typeface="Arial"/>
              </a:defRPr>
            </a:lvl3pPr>
            <a:lvl4pPr>
              <a:defRPr sz="2700" b="1">
                <a:solidFill>
                  <a:srgbClr val="173447"/>
                </a:solidFill>
                <a:latin typeface="Arial"/>
                <a:ea typeface="Arial"/>
                <a:cs typeface="Arial"/>
              </a:defRPr>
            </a:lvl4pPr>
            <a:lvl5pPr>
              <a:defRPr sz="2700" b="1">
                <a:solidFill>
                  <a:srgbClr val="173447"/>
                </a:solidFill>
                <a:latin typeface="Arial"/>
                <a:ea typeface="Arial"/>
                <a:cs typeface="Arial"/>
              </a:defRPr>
            </a:lvl5pPr>
            <a:lvl6pPr>
              <a:defRPr sz="2700" b="1">
                <a:solidFill>
                  <a:srgbClr val="173447"/>
                </a:solidFill>
                <a:latin typeface="Arial"/>
                <a:ea typeface="Arial"/>
                <a:cs typeface="Arial"/>
              </a:defRPr>
            </a:lvl6pPr>
            <a:lvl7pPr>
              <a:defRPr sz="2700" b="1">
                <a:solidFill>
                  <a:srgbClr val="173447"/>
                </a:solidFill>
                <a:latin typeface="Arial"/>
                <a:ea typeface="Arial"/>
                <a:cs typeface="Arial"/>
              </a:defRPr>
            </a:lvl7pPr>
            <a:lvl8pPr>
              <a:defRPr sz="2700" b="1">
                <a:solidFill>
                  <a:srgbClr val="173447"/>
                </a:solidFill>
                <a:latin typeface="Arial"/>
                <a:ea typeface="Arial"/>
                <a:cs typeface="Arial"/>
              </a:defRPr>
            </a:lvl8pPr>
            <a:lvl9pPr>
              <a:defRPr sz="2700" b="1">
                <a:solidFill>
                  <a:srgbClr val="173447"/>
                </a:solidFill>
                <a:latin typeface="Arial"/>
                <a:ea typeface="Arial"/>
                <a:cs typeface="Arial"/>
              </a:defRPr>
            </a:lvl9pPr>
          </a:lstStyle>
          <a:p xmlns:a="http://schemas.openxmlformats.org/drawingml/2006/main">
            <a:pPr>
              <a:defRPr sz="2700" b="1">
                <a:solidFill>
                  <a:srgbClr val="173447"/>
                </a:solidFill>
                <a:latin typeface="Arial"/>
                <a:ea typeface="Arial"/>
                <a:cs typeface="Arial"/>
              </a:defRPr>
            </a:pPr>
            <a:r>
              <a:rPr sz="2700" b="1">
                <a:solidFill>
                  <a:srgbClr val="173447"/>
                </a:solidFill>
                <a:latin typeface="Arial"/>
                <a:ea typeface="Arial"/>
                <a:cs typeface="Arial"/>
              </a:rPr>
              <a:t>F1 medio de validación: 0.828</a:t>
            </a:r>
          </a:p>
        </p:txBody>
      </p:sp>
      <p:sp>
        <p:nvSpPr>
          <p:cNvPr id="4" name="">
            <a:extLst xmlns:a="http://schemas.openxmlformats.org/drawingml/2006/main">
              <a:ext uri="{FF2B5EF4-FFF2-40B4-BE49-F238E27FC236}">
                <a16:creationId xmlns:a16="http://schemas.microsoft.com/office/drawing/2014/main" id="{6141499A-E798-4F2B-B9AA-6BED82B14BAB}"/>
              </a:ext>
            </a:extLst>
          </p:cNvPr>
          <p:cNvSpPr>
            <a:spLocks xmlns:a="http://schemas.openxmlformats.org/drawingml/2006/main" noGrp="1"/>
          </p:cNvSpPr>
          <p:nvPr/>
        </p:nvSpPr>
        <p:spPr>
          <a:xfrm xmlns:a="http://schemas.openxmlformats.org/drawingml/2006/main">
            <a:off x="647700" y="38862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447"/>
                </a:solidFill>
                <a:latin typeface="Arial"/>
                <a:ea typeface="Arial"/>
                <a:cs typeface="Arial"/>
              </a:defRPr>
            </a:defPPr>
            <a:lvl1pPr>
              <a:defRPr sz="2400" b="0">
                <a:solidFill>
                  <a:srgbClr val="173447"/>
                </a:solidFill>
                <a:latin typeface="Arial"/>
                <a:ea typeface="Arial"/>
                <a:cs typeface="Arial"/>
              </a:defRPr>
            </a:lvl1pPr>
            <a:lvl2pPr>
              <a:defRPr sz="2400" b="0">
                <a:solidFill>
                  <a:srgbClr val="173447"/>
                </a:solidFill>
                <a:latin typeface="Arial"/>
                <a:ea typeface="Arial"/>
                <a:cs typeface="Arial"/>
              </a:defRPr>
            </a:lvl2pPr>
            <a:lvl3pPr>
              <a:defRPr sz="2400" b="0">
                <a:solidFill>
                  <a:srgbClr val="173447"/>
                </a:solidFill>
                <a:latin typeface="Arial"/>
                <a:ea typeface="Arial"/>
                <a:cs typeface="Arial"/>
              </a:defRPr>
            </a:lvl3pPr>
            <a:lvl4pPr>
              <a:defRPr sz="2400" b="0">
                <a:solidFill>
                  <a:srgbClr val="173447"/>
                </a:solidFill>
                <a:latin typeface="Arial"/>
                <a:ea typeface="Arial"/>
                <a:cs typeface="Arial"/>
              </a:defRPr>
            </a:lvl4pPr>
            <a:lvl5pPr>
              <a:defRPr sz="2400" b="0">
                <a:solidFill>
                  <a:srgbClr val="173447"/>
                </a:solidFill>
                <a:latin typeface="Arial"/>
                <a:ea typeface="Arial"/>
                <a:cs typeface="Arial"/>
              </a:defRPr>
            </a:lvl5pPr>
            <a:lvl6pPr>
              <a:defRPr sz="2400" b="0">
                <a:solidFill>
                  <a:srgbClr val="173447"/>
                </a:solidFill>
                <a:latin typeface="Arial"/>
                <a:ea typeface="Arial"/>
                <a:cs typeface="Arial"/>
              </a:defRPr>
            </a:lvl6pPr>
            <a:lvl7pPr>
              <a:defRPr sz="2400" b="0">
                <a:solidFill>
                  <a:srgbClr val="173447"/>
                </a:solidFill>
                <a:latin typeface="Arial"/>
                <a:ea typeface="Arial"/>
                <a:cs typeface="Arial"/>
              </a:defRPr>
            </a:lvl7pPr>
            <a:lvl8pPr>
              <a:defRPr sz="2400" b="0">
                <a:solidFill>
                  <a:srgbClr val="173447"/>
                </a:solidFill>
                <a:latin typeface="Arial"/>
                <a:ea typeface="Arial"/>
                <a:cs typeface="Arial"/>
              </a:defRPr>
            </a:lvl8pPr>
            <a:lvl9pPr>
              <a:defRPr sz="2400" b="0">
                <a:solidFill>
                  <a:srgbClr val="173447"/>
                </a:solidFill>
                <a:latin typeface="Arial"/>
                <a:ea typeface="Arial"/>
                <a:cs typeface="Arial"/>
              </a:defRPr>
            </a:lvl9pPr>
          </a:lstStyle>
          <a:p xmlns:a="http://schemas.openxmlformats.org/drawingml/2006/main">
            <a:pPr>
              <a:defRPr sz="2400" b="0">
                <a:solidFill>
                  <a:srgbClr val="173447"/>
                </a:solidFill>
                <a:latin typeface="Arial"/>
                <a:ea typeface="Arial"/>
                <a:cs typeface="Arial"/>
              </a:defRPr>
            </a:pPr>
            <a:r>
              <a:rPr sz="2400" b="0">
                <a:solidFill>
                  <a:srgbClr val="173447"/>
                </a:solidFill>
                <a:latin typeface="Arial"/>
                <a:ea typeface="Arial"/>
                <a:cs typeface="Arial"/>
              </a:rPr>
              <a:t>Se conservan las configuraciones a menos de 0.02 del máximo.</a:t>
            </a:r>
          </a:p>
          <a:p xmlns:a="http://schemas.openxmlformats.org/drawingml/2006/main">
            <a:pPr>
              <a:defRPr sz="2400" b="0">
                <a:solidFill>
                  <a:srgbClr val="173447"/>
                </a:solidFill>
                <a:latin typeface="Arial"/>
                <a:ea typeface="Arial"/>
                <a:cs typeface="Arial"/>
              </a:defRPr>
            </a:pPr>
            <a:r>
              <a:rPr sz="2400" b="0">
                <a:solidFill>
                  <a:srgbClr val="173447"/>
                </a:solidFill>
                <a:latin typeface="Arial"/>
                <a:ea typeface="Arial"/>
                <a:cs typeface="Arial"/>
              </a:rPr>
              <a:t>Se elige el menor rango y el tiempo resuelve empates.</a:t>
            </a:r>
          </a:p>
        </p:txBody>
      </p:sp>
      <p:sp>
        <p:nvSpPr>
          <p:cNvPr id="5" name="">
            <a:extLst xmlns:a="http://schemas.openxmlformats.org/drawingml/2006/main">
              <a:ext uri="{FF2B5EF4-FFF2-40B4-BE49-F238E27FC236}">
                <a16:creationId xmlns:a16="http://schemas.microsoft.com/office/drawing/2014/main" id="{2005F18A-3832-4DD7-8040-E1631DD811E1}"/>
              </a:ext>
            </a:extLst>
          </p:cNvPr>
          <p:cNvSpPr>
            <a:spLocks xmlns:a="http://schemas.openxmlformats.org/drawingml/2006/main" noGrp="1"/>
          </p:cNvSpPr>
          <p:nvPr/>
        </p:nvSpPr>
        <p:spPr>
          <a:xfrm xmlns:a="http://schemas.openxmlformats.org/drawingml/2006/main">
            <a:off x="647700" y="54768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A6B7C"/>
                </a:solidFill>
                <a:latin typeface="Arial"/>
                <a:ea typeface="Arial"/>
                <a:cs typeface="Arial"/>
              </a:defRPr>
            </a:defPPr>
            <a:lvl1pPr>
              <a:defRPr sz="2025" b="0">
                <a:solidFill>
                  <a:srgbClr val="5A6B7C"/>
                </a:solidFill>
                <a:latin typeface="Arial"/>
                <a:ea typeface="Arial"/>
                <a:cs typeface="Arial"/>
              </a:defRPr>
            </a:lvl1pPr>
            <a:lvl2pPr>
              <a:defRPr sz="2025" b="0">
                <a:solidFill>
                  <a:srgbClr val="5A6B7C"/>
                </a:solidFill>
                <a:latin typeface="Arial"/>
                <a:ea typeface="Arial"/>
                <a:cs typeface="Arial"/>
              </a:defRPr>
            </a:lvl2pPr>
            <a:lvl3pPr>
              <a:defRPr sz="2025" b="0">
                <a:solidFill>
                  <a:srgbClr val="5A6B7C"/>
                </a:solidFill>
                <a:latin typeface="Arial"/>
                <a:ea typeface="Arial"/>
                <a:cs typeface="Arial"/>
              </a:defRPr>
            </a:lvl3pPr>
            <a:lvl4pPr>
              <a:defRPr sz="2025" b="0">
                <a:solidFill>
                  <a:srgbClr val="5A6B7C"/>
                </a:solidFill>
                <a:latin typeface="Arial"/>
                <a:ea typeface="Arial"/>
                <a:cs typeface="Arial"/>
              </a:defRPr>
            </a:lvl4pPr>
            <a:lvl5pPr>
              <a:defRPr sz="2025" b="0">
                <a:solidFill>
                  <a:srgbClr val="5A6B7C"/>
                </a:solidFill>
                <a:latin typeface="Arial"/>
                <a:ea typeface="Arial"/>
                <a:cs typeface="Arial"/>
              </a:defRPr>
            </a:lvl5pPr>
            <a:lvl6pPr>
              <a:defRPr sz="2025" b="0">
                <a:solidFill>
                  <a:srgbClr val="5A6B7C"/>
                </a:solidFill>
                <a:latin typeface="Arial"/>
                <a:ea typeface="Arial"/>
                <a:cs typeface="Arial"/>
              </a:defRPr>
            </a:lvl6pPr>
            <a:lvl7pPr>
              <a:defRPr sz="2025" b="0">
                <a:solidFill>
                  <a:srgbClr val="5A6B7C"/>
                </a:solidFill>
                <a:latin typeface="Arial"/>
                <a:ea typeface="Arial"/>
                <a:cs typeface="Arial"/>
              </a:defRPr>
            </a:lvl7pPr>
            <a:lvl8pPr>
              <a:defRPr sz="2025" b="0">
                <a:solidFill>
                  <a:srgbClr val="5A6B7C"/>
                </a:solidFill>
                <a:latin typeface="Arial"/>
                <a:ea typeface="Arial"/>
                <a:cs typeface="Arial"/>
              </a:defRPr>
            </a:lvl8pPr>
            <a:lvl9pPr>
              <a:defRPr sz="2025" b="0">
                <a:solidFill>
                  <a:srgbClr val="5A6B7C"/>
                </a:solidFill>
                <a:latin typeface="Arial"/>
                <a:ea typeface="Arial"/>
                <a:cs typeface="Arial"/>
              </a:defRPr>
            </a:lvl9pPr>
          </a:lstStyle>
          <a:p xmlns:a="http://schemas.openxmlformats.org/drawingml/2006/main">
            <a:pPr>
              <a:defRPr sz="2025" b="0">
                <a:solidFill>
                  <a:srgbClr val="5A6B7C"/>
                </a:solidFill>
                <a:latin typeface="Arial"/>
                <a:ea typeface="Arial"/>
                <a:cs typeface="Arial"/>
              </a:defRPr>
            </a:pPr>
            <a:r>
              <a:rPr sz="2025" b="0">
                <a:solidFill>
                  <a:srgbClr val="5A6B7C"/>
                </a:solidFill>
                <a:latin typeface="Arial"/>
                <a:ea typeface="Arial"/>
                <a:cs typeface="Arial"/>
              </a:rPr>
              <a:t>La frontera de Pareto complementa la decisión con tiempo y memoria.</a:t>
            </a:r>
          </a:p>
          <a:p xmlns:a="http://schemas.openxmlformats.org/drawingml/2006/main">
            <a:pPr>
              <a:defRPr sz="2025" b="0">
                <a:solidFill>
                  <a:srgbClr val="5A6B7C"/>
                </a:solidFill>
                <a:latin typeface="Arial"/>
                <a:ea typeface="Arial"/>
                <a:cs typeface="Arial"/>
              </a:defRPr>
            </a:pPr>
            <a:r>
              <a:rPr sz="2025" b="0">
                <a:solidFill>
                  <a:srgbClr val="5A6B7C"/>
                </a:solidFill>
                <a:latin typeface="Arial"/>
                <a:ea typeface="Arial"/>
                <a:cs typeface="Arial"/>
              </a:rPr>
              <a:t>El óptimo corresponde a 256 ejemplos y 32 actualizaciones.</a:t>
            </a:r>
          </a:p>
        </p:txBody>
      </p:sp>
    </p:spTree>
    <p:extLst>
      <p:ext uri="{BB962C8B-B14F-4D97-AF65-F5344CB8AC3E}">
        <p14:creationId xmlns:p14="http://schemas.microsoft.com/office/powerpoint/2010/main" val="374002264"/>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EDF22B-D00B-4E28-856F-4A8E3BAEBA6A}"/>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Tecnologías posteriores a LoRA en PEFT</a:t>
            </a:r>
          </a:p>
        </p:txBody>
      </p:sp>
      <p:graphicFrame>
        <p:nvGraphicFramePr>
          <p:cNvPr id="2" name="">
            <a:extLst xmlns:a="http://schemas.openxmlformats.org/drawingml/2006/main">
              <a:ext uri="{FF2B5EF4-FFF2-40B4-BE49-F238E27FC236}">
                <a16:creationId xmlns:a16="http://schemas.microsoft.com/office/drawing/2014/main" id="{1EC09157-D6DB-4476-B54D-A230F8DE006E}"/>
              </a:ext>
            </a:extLst>
          </p:cNvPr>
          <p:cNvGraphicFramePr/>
          <p:nvPr/>
        </p:nvGraphicFramePr>
        <p:xfrm>
          <a:off xmlns:a="http://schemas.openxmlformats.org/drawingml/2006/main" x="609600" y="1714500"/>
          <a:ext xmlns:a="http://schemas.openxmlformats.org/drawingml/2006/main" cx="10972800" cy="3000375"/>
        </p:xfrm>
        <a:graphic xmlns:a="http://schemas.openxmlformats.org/drawingml/2006/main">
          <a:graphicData uri="http://schemas.openxmlformats.org/drawingml/2006/table">
            <a:tbl>
              <a:tblPr/>
              <a:tblGrid>
                <a:gridCol w="2000250"/>
                <a:gridCol w="4857750"/>
                <a:gridCol w="4114800"/>
              </a:tblGrid>
              <a:tr h="750094">
                <a:tc>
                  <a:txBody>
                    <a:bodyPr/>
                    <a:lstStyle/>
                    <a:p>
                      <a:r>
                        <a:rPr sz="1725" b="1">
                          <a:solidFill>
                            <a:srgbClr val="167C80"/>
                          </a:solidFill>
                          <a:latin typeface="Arial"/>
                          <a:ea typeface="Arial"/>
                          <a:cs typeface="Arial"/>
                        </a:rPr>
                        <a:t>Método</a:t>
                      </a:r>
                    </a:p>
                  </a:txBody>
                  <a:tcPr marL="133350" marR="133350" marT="114300" marB="114300">
                    <a:lnL w="9525">
                      <a:solidFill>
                        <a:srgbClr val="DDE5EA"/>
                      </a:solidFill>
                      <a:prstDash val="solid"/>
                    </a:lnL>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Qué cambia</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Implementación</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r>
              <a:tr h="750094">
                <a:tc>
                  <a:txBody>
                    <a:bodyPr/>
                    <a:lstStyle/>
                    <a:p>
                      <a:r>
                        <a:rPr sz="1800">
                          <a:solidFill>
                            <a:srgbClr val="173447"/>
                          </a:solidFill>
                          <a:latin typeface="Arial"/>
                          <a:ea typeface="Arial"/>
                          <a:cs typeface="Arial"/>
                        </a:rPr>
                        <a:t>DoRA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Separa magnitud y dirección</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use_dora=True</a:t>
                      </a:r>
                    </a:p>
                  </a:txBody>
                  <a:tcPr marL="133350" marR="133350" marT="114300" marB="114300">
                    <a:lnR w="9525">
                      <a:solidFill>
                        <a:srgbClr val="DDE5EA"/>
                      </a:solidFill>
                      <a:prstDash val="solid"/>
                    </a:lnR>
                    <a:lnB w="9525">
                      <a:solidFill>
                        <a:srgbClr val="DDE5EA"/>
                      </a:solidFill>
                      <a:prstDash val="solid"/>
                    </a:lnB>
                  </a:tcPr>
                </a:tc>
              </a:tr>
              <a:tr h="750094">
                <a:tc>
                  <a:txBody>
                    <a:bodyPr/>
                    <a:lstStyle/>
                    <a:p>
                      <a:r>
                        <a:rPr sz="1800">
                          <a:solidFill>
                            <a:srgbClr val="173447"/>
                          </a:solidFill>
                          <a:latin typeface="Arial"/>
                          <a:ea typeface="Arial"/>
                          <a:cs typeface="Arial"/>
                        </a:rPr>
                        <a:t>rsLoRA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Escala alpha/sqrt(r)</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use_rslora=True</a:t>
                      </a:r>
                    </a:p>
                  </a:txBody>
                  <a:tcPr marL="133350" marR="133350" marT="114300" marB="114300">
                    <a:lnR w="9525">
                      <a:solidFill>
                        <a:srgbClr val="DDE5EA"/>
                      </a:solidFill>
                      <a:prstDash val="solid"/>
                    </a:lnR>
                    <a:lnB w="9525">
                      <a:solidFill>
                        <a:srgbClr val="DDE5EA"/>
                      </a:solidFill>
                      <a:prstDash val="solid"/>
                    </a:lnB>
                  </a:tcPr>
                </a:tc>
              </a:tr>
              <a:tr h="750094">
                <a:tc>
                  <a:txBody>
                    <a:bodyPr/>
                    <a:lstStyle/>
                    <a:p>
                      <a:r>
                        <a:rPr sz="1800">
                          <a:solidFill>
                            <a:srgbClr val="173447"/>
                          </a:solidFill>
                          <a:latin typeface="Arial"/>
                          <a:ea typeface="Arial"/>
                          <a:cs typeface="Arial"/>
                        </a:rPr>
                        <a:t>LoRA+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Tasas distintas para A y B</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Optimizador LoRA+</a:t>
                      </a:r>
                    </a:p>
                    <a:p>
                      <a:r>
                        <a:rPr sz="1800">
                          <a:solidFill>
                            <a:srgbClr val="173447"/>
                          </a:solidFill>
                          <a:latin typeface="Arial"/>
                          <a:ea typeface="Arial"/>
                          <a:cs typeface="Arial"/>
                        </a:rPr>
                        <a:t>Razón B/A = 16</a:t>
                      </a:r>
                    </a:p>
                  </a:txBody>
                  <a:tcPr marL="133350" marR="133350" marT="114300" marB="114300">
                    <a:lnR w="9525">
                      <a:solidFill>
                        <a:srgbClr val="DDE5EA"/>
                      </a:solidFill>
                      <a:prstDash val="solid"/>
                    </a:lnR>
                    <a:lnB w="9525">
                      <a:solidFill>
                        <a:srgbClr val="DDE5EA"/>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8A74057A-9D36-4732-B5D7-2E9A68199CCD}"/>
              </a:ext>
            </a:extLst>
          </p:cNvPr>
          <p:cNvSpPr>
            <a:spLocks xmlns:a="http://schemas.openxmlformats.org/drawingml/2006/main" noGrp="1"/>
          </p:cNvSpPr>
          <p:nvPr/>
        </p:nvSpPr>
        <p:spPr>
          <a:xfrm xmlns:a="http://schemas.openxmlformats.org/drawingml/2006/main">
            <a:off x="647700" y="5095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7C80"/>
                </a:solidFill>
                <a:latin typeface="Arial"/>
                <a:ea typeface="Arial"/>
                <a:cs typeface="Arial"/>
              </a:defRPr>
            </a:defPPr>
            <a:lvl1pPr>
              <a:defRPr sz="2175" b="1">
                <a:solidFill>
                  <a:srgbClr val="167C80"/>
                </a:solidFill>
                <a:latin typeface="Arial"/>
                <a:ea typeface="Arial"/>
                <a:cs typeface="Arial"/>
              </a:defRPr>
            </a:lvl1pPr>
            <a:lvl2pPr>
              <a:defRPr sz="2175" b="1">
                <a:solidFill>
                  <a:srgbClr val="167C80"/>
                </a:solidFill>
                <a:latin typeface="Arial"/>
                <a:ea typeface="Arial"/>
                <a:cs typeface="Arial"/>
              </a:defRPr>
            </a:lvl2pPr>
            <a:lvl3pPr>
              <a:defRPr sz="2175" b="1">
                <a:solidFill>
                  <a:srgbClr val="167C80"/>
                </a:solidFill>
                <a:latin typeface="Arial"/>
                <a:ea typeface="Arial"/>
                <a:cs typeface="Arial"/>
              </a:defRPr>
            </a:lvl3pPr>
            <a:lvl4pPr>
              <a:defRPr sz="2175" b="1">
                <a:solidFill>
                  <a:srgbClr val="167C80"/>
                </a:solidFill>
                <a:latin typeface="Arial"/>
                <a:ea typeface="Arial"/>
                <a:cs typeface="Arial"/>
              </a:defRPr>
            </a:lvl4pPr>
            <a:lvl5pPr>
              <a:defRPr sz="2175" b="1">
                <a:solidFill>
                  <a:srgbClr val="167C80"/>
                </a:solidFill>
                <a:latin typeface="Arial"/>
                <a:ea typeface="Arial"/>
                <a:cs typeface="Arial"/>
              </a:defRPr>
            </a:lvl5pPr>
            <a:lvl6pPr>
              <a:defRPr sz="2175" b="1">
                <a:solidFill>
                  <a:srgbClr val="167C80"/>
                </a:solidFill>
                <a:latin typeface="Arial"/>
                <a:ea typeface="Arial"/>
                <a:cs typeface="Arial"/>
              </a:defRPr>
            </a:lvl6pPr>
            <a:lvl7pPr>
              <a:defRPr sz="2175" b="1">
                <a:solidFill>
                  <a:srgbClr val="167C80"/>
                </a:solidFill>
                <a:latin typeface="Arial"/>
                <a:ea typeface="Arial"/>
                <a:cs typeface="Arial"/>
              </a:defRPr>
            </a:lvl7pPr>
            <a:lvl8pPr>
              <a:defRPr sz="2175" b="1">
                <a:solidFill>
                  <a:srgbClr val="167C80"/>
                </a:solidFill>
                <a:latin typeface="Arial"/>
                <a:ea typeface="Arial"/>
                <a:cs typeface="Arial"/>
              </a:defRPr>
            </a:lvl8pPr>
            <a:lvl9pPr>
              <a:defRPr sz="2175" b="1">
                <a:solidFill>
                  <a:srgbClr val="167C80"/>
                </a:solidFill>
                <a:latin typeface="Arial"/>
                <a:ea typeface="Arial"/>
                <a:cs typeface="Arial"/>
              </a:defRPr>
            </a:lvl9pPr>
          </a:lstStyle>
          <a:p xmlns:a="http://schemas.openxmlformats.org/drawingml/2006/main">
            <a:pPr>
              <a:defRPr sz="2175" b="1">
                <a:solidFill>
                  <a:srgbClr val="167C80"/>
                </a:solidFill>
                <a:latin typeface="Arial"/>
                <a:ea typeface="Arial"/>
                <a:cs typeface="Arial"/>
              </a:defRPr>
            </a:pPr>
            <a:r>
              <a:rPr sz="2175" b="1">
                <a:solidFill>
                  <a:srgbClr val="167C80"/>
                </a:solidFill>
                <a:latin typeface="Arial"/>
                <a:ea typeface="Arial"/>
                <a:cs typeface="Arial"/>
              </a:rPr>
              <a:t>Se comparan con LoRA en la misma configuración y con dos semillas.</a:t>
            </a:r>
          </a:p>
        </p:txBody>
      </p:sp>
      <p:sp>
        <p:nvSpPr>
          <p:cNvPr id="4" name="">
            <a:extLst xmlns:a="http://schemas.openxmlformats.org/drawingml/2006/main">
              <a:ext uri="{FF2B5EF4-FFF2-40B4-BE49-F238E27FC236}">
                <a16:creationId xmlns:a16="http://schemas.microsoft.com/office/drawing/2014/main" id="{C8AFFB5A-0080-4B29-8517-67723B345F83}"/>
              </a:ext>
            </a:extLst>
          </p:cNvPr>
          <p:cNvSpPr>
            <a:spLocks xmlns:a="http://schemas.openxmlformats.org/drawingml/2006/main" noGrp="1"/>
          </p:cNvSpPr>
          <p:nvPr/>
        </p:nvSpPr>
        <p:spPr>
          <a:xfrm xmlns:a="http://schemas.openxmlformats.org/drawingml/2006/main">
            <a:off x="647700"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A6B7C"/>
                </a:solidFill>
                <a:latin typeface="Arial"/>
                <a:ea typeface="Arial"/>
                <a:cs typeface="Arial"/>
              </a:defRPr>
            </a:defPPr>
            <a:lvl1pPr>
              <a:defRPr sz="1800" b="0">
                <a:solidFill>
                  <a:srgbClr val="5A6B7C"/>
                </a:solidFill>
                <a:latin typeface="Arial"/>
                <a:ea typeface="Arial"/>
                <a:cs typeface="Arial"/>
              </a:defRPr>
            </a:lvl1pPr>
            <a:lvl2pPr>
              <a:defRPr sz="1800" b="0">
                <a:solidFill>
                  <a:srgbClr val="5A6B7C"/>
                </a:solidFill>
                <a:latin typeface="Arial"/>
                <a:ea typeface="Arial"/>
                <a:cs typeface="Arial"/>
              </a:defRPr>
            </a:lvl2pPr>
            <a:lvl3pPr>
              <a:defRPr sz="1800" b="0">
                <a:solidFill>
                  <a:srgbClr val="5A6B7C"/>
                </a:solidFill>
                <a:latin typeface="Arial"/>
                <a:ea typeface="Arial"/>
                <a:cs typeface="Arial"/>
              </a:defRPr>
            </a:lvl3pPr>
            <a:lvl4pPr>
              <a:defRPr sz="1800" b="0">
                <a:solidFill>
                  <a:srgbClr val="5A6B7C"/>
                </a:solidFill>
                <a:latin typeface="Arial"/>
                <a:ea typeface="Arial"/>
                <a:cs typeface="Arial"/>
              </a:defRPr>
            </a:lvl4pPr>
            <a:lvl5pPr>
              <a:defRPr sz="1800" b="0">
                <a:solidFill>
                  <a:srgbClr val="5A6B7C"/>
                </a:solidFill>
                <a:latin typeface="Arial"/>
                <a:ea typeface="Arial"/>
                <a:cs typeface="Arial"/>
              </a:defRPr>
            </a:lvl5pPr>
            <a:lvl6pPr>
              <a:defRPr sz="1800" b="0">
                <a:solidFill>
                  <a:srgbClr val="5A6B7C"/>
                </a:solidFill>
                <a:latin typeface="Arial"/>
                <a:ea typeface="Arial"/>
                <a:cs typeface="Arial"/>
              </a:defRPr>
            </a:lvl6pPr>
            <a:lvl7pPr>
              <a:defRPr sz="1800" b="0">
                <a:solidFill>
                  <a:srgbClr val="5A6B7C"/>
                </a:solidFill>
                <a:latin typeface="Arial"/>
                <a:ea typeface="Arial"/>
                <a:cs typeface="Arial"/>
              </a:defRPr>
            </a:lvl7pPr>
            <a:lvl8pPr>
              <a:defRPr sz="1800" b="0">
                <a:solidFill>
                  <a:srgbClr val="5A6B7C"/>
                </a:solidFill>
                <a:latin typeface="Arial"/>
                <a:ea typeface="Arial"/>
                <a:cs typeface="Arial"/>
              </a:defRPr>
            </a:lvl8pPr>
            <a:lvl9pPr>
              <a:defRPr sz="1800" b="0">
                <a:solidFill>
                  <a:srgbClr val="5A6B7C"/>
                </a:solidFill>
                <a:latin typeface="Arial"/>
                <a:ea typeface="Arial"/>
                <a:cs typeface="Arial"/>
              </a:defRPr>
            </a:lvl9pPr>
          </a:lstStyle>
          <a:p xmlns:a="http://schemas.openxmlformats.org/drawingml/2006/main">
            <a:pPr>
              <a:defRPr sz="1800" b="0">
                <a:solidFill>
                  <a:srgbClr val="5A6B7C"/>
                </a:solidFill>
                <a:latin typeface="Arial"/>
                <a:ea typeface="Arial"/>
                <a:cs typeface="Arial"/>
              </a:defRPr>
            </a:pPr>
            <a:r>
              <a:rPr sz="1800" b="0">
                <a:solidFill>
                  <a:srgbClr val="5A6B7C"/>
                </a:solidFill>
                <a:latin typeface="Arial"/>
                <a:ea typeface="Arial"/>
                <a:cs typeface="Arial"/>
              </a:rPr>
              <a:t>LoRA+: A = 0.0002 y B = 0.0032. La razón se conserva en cada paso.</a:t>
            </a:r>
          </a:p>
        </p:txBody>
      </p:sp>
      <p:sp>
        <p:nvSpPr>
          <p:cNvPr id="5" name="">
            <a:extLst xmlns:a="http://schemas.openxmlformats.org/drawingml/2006/main">
              <a:ext uri="{FF2B5EF4-FFF2-40B4-BE49-F238E27FC236}">
                <a16:creationId xmlns:a16="http://schemas.microsoft.com/office/drawing/2014/main" id="{1C9E90F5-3789-4F91-AECF-08D95914BEF3}"/>
              </a:ext>
            </a:extLst>
          </p:cNvPr>
          <p:cNvSpPr>
            <a:spLocks xmlns:a="http://schemas.openxmlformats.org/drawingml/2006/main" noGrp="1"/>
          </p:cNvSpPr>
          <p:nvPr/>
        </p:nvSpPr>
        <p:spPr>
          <a:xfrm xmlns:a="http://schemas.openxmlformats.org/drawingml/2006/main">
            <a:off x="647700" y="63246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A6B7C"/>
                </a:solidFill>
                <a:latin typeface="Arial"/>
                <a:ea typeface="Arial"/>
                <a:cs typeface="Arial"/>
              </a:defRPr>
            </a:defPPr>
            <a:lvl1pPr>
              <a:defRPr sz="1575" b="0">
                <a:solidFill>
                  <a:srgbClr val="5A6B7C"/>
                </a:solidFill>
                <a:latin typeface="Arial"/>
                <a:ea typeface="Arial"/>
                <a:cs typeface="Arial"/>
              </a:defRPr>
            </a:lvl1pPr>
            <a:lvl2pPr>
              <a:defRPr sz="1575" b="0">
                <a:solidFill>
                  <a:srgbClr val="5A6B7C"/>
                </a:solidFill>
                <a:latin typeface="Arial"/>
                <a:ea typeface="Arial"/>
                <a:cs typeface="Arial"/>
              </a:defRPr>
            </a:lvl2pPr>
            <a:lvl3pPr>
              <a:defRPr sz="1575" b="0">
                <a:solidFill>
                  <a:srgbClr val="5A6B7C"/>
                </a:solidFill>
                <a:latin typeface="Arial"/>
                <a:ea typeface="Arial"/>
                <a:cs typeface="Arial"/>
              </a:defRPr>
            </a:lvl3pPr>
            <a:lvl4pPr>
              <a:defRPr sz="1575" b="0">
                <a:solidFill>
                  <a:srgbClr val="5A6B7C"/>
                </a:solidFill>
                <a:latin typeface="Arial"/>
                <a:ea typeface="Arial"/>
                <a:cs typeface="Arial"/>
              </a:defRPr>
            </a:lvl4pPr>
            <a:lvl5pPr>
              <a:defRPr sz="1575" b="0">
                <a:solidFill>
                  <a:srgbClr val="5A6B7C"/>
                </a:solidFill>
                <a:latin typeface="Arial"/>
                <a:ea typeface="Arial"/>
                <a:cs typeface="Arial"/>
              </a:defRPr>
            </a:lvl5pPr>
            <a:lvl6pPr>
              <a:defRPr sz="1575" b="0">
                <a:solidFill>
                  <a:srgbClr val="5A6B7C"/>
                </a:solidFill>
                <a:latin typeface="Arial"/>
                <a:ea typeface="Arial"/>
                <a:cs typeface="Arial"/>
              </a:defRPr>
            </a:lvl6pPr>
            <a:lvl7pPr>
              <a:defRPr sz="1575" b="0">
                <a:solidFill>
                  <a:srgbClr val="5A6B7C"/>
                </a:solidFill>
                <a:latin typeface="Arial"/>
                <a:ea typeface="Arial"/>
                <a:cs typeface="Arial"/>
              </a:defRPr>
            </a:lvl7pPr>
            <a:lvl8pPr>
              <a:defRPr sz="1575" b="0">
                <a:solidFill>
                  <a:srgbClr val="5A6B7C"/>
                </a:solidFill>
                <a:latin typeface="Arial"/>
                <a:ea typeface="Arial"/>
                <a:cs typeface="Arial"/>
              </a:defRPr>
            </a:lvl8pPr>
            <a:lvl9pPr>
              <a:defRPr sz="1575" b="0">
                <a:solidFill>
                  <a:srgbClr val="5A6B7C"/>
                </a:solidFill>
                <a:latin typeface="Arial"/>
                <a:ea typeface="Arial"/>
                <a:cs typeface="Arial"/>
              </a:defRPr>
            </a:lvl9pPr>
          </a:lstStyle>
          <a:p xmlns:a="http://schemas.openxmlformats.org/drawingml/2006/main">
            <a:pPr>
              <a:defRPr sz="1575" b="0">
                <a:solidFill>
                  <a:srgbClr val="5A6B7C"/>
                </a:solidFill>
                <a:latin typeface="Arial"/>
                <a:ea typeface="Arial"/>
                <a:cs typeface="Arial"/>
              </a:defRPr>
            </a:pPr>
            <a:r>
              <a:rPr sz="1575" b="0">
                <a:solidFill>
                  <a:srgbClr val="5A6B7C"/>
                </a:solidFill>
                <a:latin typeface="Arial"/>
                <a:ea typeface="Arial"/>
                <a:cs typeface="Arial"/>
              </a:rPr>
              <a:t>Con r=1 las dos escalas coinciden. Añadimos un control de rsLoRA con r=32.</a:t>
            </a:r>
          </a:p>
        </p:txBody>
      </p:sp>
    </p:spTree>
    <p:extLst>
      <p:ext uri="{BB962C8B-B14F-4D97-AF65-F5344CB8AC3E}">
        <p14:creationId xmlns:p14="http://schemas.microsoft.com/office/powerpoint/2010/main" val="1717077003"/>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ABE8FC-6EB8-484A-A7CD-15AF115F2BE0}"/>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Comparación con el mismo presupuesto</a:t>
            </a:r>
          </a:p>
        </p:txBody>
      </p:sp>
      <p:graphicFrame>
        <p:nvGraphicFramePr>
          <p:cNvPr id="2" name="">
            <a:extLst xmlns:a="http://schemas.openxmlformats.org/drawingml/2006/main">
              <a:ext uri="{FF2B5EF4-FFF2-40B4-BE49-F238E27FC236}">
                <a16:creationId xmlns:a16="http://schemas.microsoft.com/office/drawing/2014/main" id="{FD319A4C-942D-4603-8146-CF4CD8C42E96}"/>
              </a:ext>
            </a:extLst>
          </p:cNvPr>
          <p:cNvGraphicFramePr/>
          <p:nvPr/>
        </p:nvGraphicFramePr>
        <p:xfrm>
          <a:off xmlns:a="http://schemas.openxmlformats.org/drawingml/2006/main" x="609600" y="1619250"/>
          <a:ext xmlns:a="http://schemas.openxmlformats.org/drawingml/2006/main" cx="10972800" cy="3048000"/>
        </p:xfrm>
        <a:graphic xmlns:a="http://schemas.openxmlformats.org/drawingml/2006/main">
          <a:graphicData uri="http://schemas.openxmlformats.org/drawingml/2006/table">
            <a:tbl>
              <a:tblPr/>
              <a:tblGrid>
                <a:gridCol w="2286000"/>
                <a:gridCol w="2095500"/>
                <a:gridCol w="2095500"/>
                <a:gridCol w="2381250"/>
                <a:gridCol w="2114550"/>
              </a:tblGrid>
              <a:tr h="609600">
                <a:tc>
                  <a:txBody>
                    <a:bodyPr/>
                    <a:lstStyle/>
                    <a:p>
                      <a:r>
                        <a:rPr sz="1725" b="1">
                          <a:solidFill>
                            <a:srgbClr val="167C80"/>
                          </a:solidFill>
                          <a:latin typeface="Arial"/>
                          <a:ea typeface="Arial"/>
                          <a:cs typeface="Arial"/>
                        </a:rPr>
                        <a:t>Método</a:t>
                      </a:r>
                    </a:p>
                  </a:txBody>
                  <a:tcPr marL="133350" marR="133350" marT="114300" marB="114300">
                    <a:lnL w="9525">
                      <a:solidFill>
                        <a:srgbClr val="DDE5EA"/>
                      </a:solidFill>
                      <a:prstDash val="solid"/>
                    </a:lnL>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F1 prueba</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Minutos</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VRAM (GiB)</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c>
                  <a:txBody>
                    <a:bodyPr/>
                    <a:lstStyle/>
                    <a:p>
                      <a:r>
                        <a:rPr sz="1725" b="1">
                          <a:solidFill>
                            <a:srgbClr val="167C80"/>
                          </a:solidFill>
                          <a:latin typeface="Arial"/>
                          <a:ea typeface="Arial"/>
                          <a:cs typeface="Arial"/>
                        </a:rPr>
                        <a:t>USD simulados</a:t>
                      </a:r>
                    </a:p>
                  </a:txBody>
                  <a:tcPr marL="133350" marR="133350" marT="114300" marB="114300">
                    <a:lnR w="9525">
                      <a:solidFill>
                        <a:srgbClr val="DDE5EA"/>
                      </a:solidFill>
                      <a:prstDash val="solid"/>
                    </a:lnR>
                    <a:lnT w="9525">
                      <a:solidFill>
                        <a:srgbClr val="DDE5EA"/>
                      </a:solidFill>
                      <a:prstDash val="solid"/>
                    </a:lnT>
                    <a:lnB w="9525">
                      <a:solidFill>
                        <a:srgbClr val="DDE5EA"/>
                      </a:solidFill>
                      <a:prstDash val="solid"/>
                    </a:lnB>
                    <a:solidFill>
                      <a:srgbClr val="E7F1F1"/>
                    </a:solidFill>
                  </a:tcPr>
                </a:tc>
              </a:tr>
              <a:tr h="609600">
                <a:tc>
                  <a:txBody>
                    <a:bodyPr/>
                    <a:lstStyle/>
                    <a:p>
                      <a:r>
                        <a:rPr sz="1800">
                          <a:solidFill>
                            <a:srgbClr val="173447"/>
                          </a:solidFill>
                          <a:latin typeface="Arial"/>
                          <a:ea typeface="Arial"/>
                          <a:cs typeface="Arial"/>
                        </a:rPr>
                        <a:t>LoRA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0.891</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3.74</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3.20</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0.0624</a:t>
                      </a:r>
                    </a:p>
                  </a:txBody>
                  <a:tcPr marL="133350" marR="133350" marT="114300" marB="114300">
                    <a:lnR w="9525">
                      <a:solidFill>
                        <a:srgbClr val="DDE5EA"/>
                      </a:solidFill>
                      <a:prstDash val="solid"/>
                    </a:lnR>
                    <a:lnB w="9525">
                      <a:solidFill>
                        <a:srgbClr val="DDE5EA"/>
                      </a:solidFill>
                      <a:prstDash val="solid"/>
                    </a:lnB>
                  </a:tcPr>
                </a:tc>
              </a:tr>
              <a:tr h="609600">
                <a:tc>
                  <a:txBody>
                    <a:bodyPr/>
                    <a:lstStyle/>
                    <a:p>
                      <a:r>
                        <a:rPr sz="1800">
                          <a:solidFill>
                            <a:srgbClr val="173447"/>
                          </a:solidFill>
                          <a:latin typeface="Arial"/>
                          <a:ea typeface="Arial"/>
                          <a:cs typeface="Arial"/>
                        </a:rPr>
                        <a:t>DoRA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0.890</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10.88</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3.48</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0.1813</a:t>
                      </a:r>
                    </a:p>
                  </a:txBody>
                  <a:tcPr marL="133350" marR="133350" marT="114300" marB="114300">
                    <a:lnR w="9525">
                      <a:solidFill>
                        <a:srgbClr val="DDE5EA"/>
                      </a:solidFill>
                      <a:prstDash val="solid"/>
                    </a:lnR>
                    <a:lnB w="9525">
                      <a:solidFill>
                        <a:srgbClr val="DDE5EA"/>
                      </a:solidFill>
                      <a:prstDash val="solid"/>
                    </a:lnB>
                  </a:tcPr>
                </a:tc>
              </a:tr>
              <a:tr h="609600">
                <a:tc>
                  <a:txBody>
                    <a:bodyPr/>
                    <a:lstStyle/>
                    <a:p>
                      <a:r>
                        <a:rPr sz="1800">
                          <a:solidFill>
                            <a:srgbClr val="173447"/>
                          </a:solidFill>
                          <a:latin typeface="Arial"/>
                          <a:ea typeface="Arial"/>
                          <a:cs typeface="Arial"/>
                        </a:rPr>
                        <a:t>rsLoRA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0.883</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5.39</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3.19</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0.0899</a:t>
                      </a:r>
                    </a:p>
                  </a:txBody>
                  <a:tcPr marL="133350" marR="133350" marT="114300" marB="114300">
                    <a:lnR w="9525">
                      <a:solidFill>
                        <a:srgbClr val="DDE5EA"/>
                      </a:solidFill>
                      <a:prstDash val="solid"/>
                    </a:lnR>
                    <a:lnB w="9525">
                      <a:solidFill>
                        <a:srgbClr val="DDE5EA"/>
                      </a:solidFill>
                      <a:prstDash val="solid"/>
                    </a:lnB>
                  </a:tcPr>
                </a:tc>
              </a:tr>
              <a:tr h="609600">
                <a:tc>
                  <a:txBody>
                    <a:bodyPr/>
                    <a:lstStyle/>
                    <a:p>
                      <a:r>
                        <a:rPr sz="1800">
                          <a:solidFill>
                            <a:srgbClr val="173447"/>
                          </a:solidFill>
                          <a:latin typeface="Arial"/>
                          <a:ea typeface="Arial"/>
                          <a:cs typeface="Arial"/>
                        </a:rPr>
                        <a:t>LoRA+</a:t>
                      </a:r>
                    </a:p>
                  </a:txBody>
                  <a:tcPr marL="133350" marR="133350" marT="114300" marB="114300">
                    <a:lnL w="9525">
                      <a:solidFill>
                        <a:srgbClr val="DDE5EA"/>
                      </a:solidFill>
                      <a:prstDash val="solid"/>
                    </a:lnL>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0.722</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5.27</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3.20</a:t>
                      </a:r>
                    </a:p>
                  </a:txBody>
                  <a:tcPr marL="133350" marR="133350" marT="114300" marB="114300">
                    <a:lnR w="9525">
                      <a:solidFill>
                        <a:srgbClr val="DDE5EA"/>
                      </a:solidFill>
                      <a:prstDash val="solid"/>
                    </a:lnR>
                    <a:lnB w="9525">
                      <a:solidFill>
                        <a:srgbClr val="DDE5EA"/>
                      </a:solidFill>
                      <a:prstDash val="solid"/>
                    </a:lnB>
                  </a:tcPr>
                </a:tc>
                <a:tc>
                  <a:txBody>
                    <a:bodyPr/>
                    <a:lstStyle/>
                    <a:p>
                      <a:r>
                        <a:rPr sz="1800">
                          <a:solidFill>
                            <a:srgbClr val="173447"/>
                          </a:solidFill>
                          <a:latin typeface="Arial"/>
                          <a:ea typeface="Arial"/>
                          <a:cs typeface="Arial"/>
                        </a:rPr>
                        <a:t>0.0879</a:t>
                      </a:r>
                    </a:p>
                  </a:txBody>
                  <a:tcPr marL="133350" marR="133350" marT="114300" marB="114300">
                    <a:lnR w="9525">
                      <a:solidFill>
                        <a:srgbClr val="DDE5EA"/>
                      </a:solidFill>
                      <a:prstDash val="solid"/>
                    </a:lnR>
                    <a:lnB w="9525">
                      <a:solidFill>
                        <a:srgbClr val="DDE5EA"/>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5AF11DBF-462D-4B84-856D-3540180D6504}"/>
              </a:ext>
            </a:extLst>
          </p:cNvPr>
          <p:cNvSpPr>
            <a:spLocks xmlns:a="http://schemas.openxmlformats.org/drawingml/2006/main" noGrp="1"/>
          </p:cNvSpPr>
          <p:nvPr/>
        </p:nvSpPr>
        <p:spPr>
          <a:xfrm xmlns:a="http://schemas.openxmlformats.org/drawingml/2006/main">
            <a:off x="647700" y="50958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7C80"/>
                </a:solidFill>
                <a:latin typeface="Arial"/>
                <a:ea typeface="Arial"/>
                <a:cs typeface="Arial"/>
              </a:defRPr>
            </a:defPPr>
            <a:lvl1pPr>
              <a:defRPr sz="2175" b="1">
                <a:solidFill>
                  <a:srgbClr val="167C80"/>
                </a:solidFill>
                <a:latin typeface="Arial"/>
                <a:ea typeface="Arial"/>
                <a:cs typeface="Arial"/>
              </a:defRPr>
            </a:lvl1pPr>
            <a:lvl2pPr>
              <a:defRPr sz="2175" b="1">
                <a:solidFill>
                  <a:srgbClr val="167C80"/>
                </a:solidFill>
                <a:latin typeface="Arial"/>
                <a:ea typeface="Arial"/>
                <a:cs typeface="Arial"/>
              </a:defRPr>
            </a:lvl2pPr>
            <a:lvl3pPr>
              <a:defRPr sz="2175" b="1">
                <a:solidFill>
                  <a:srgbClr val="167C80"/>
                </a:solidFill>
                <a:latin typeface="Arial"/>
                <a:ea typeface="Arial"/>
                <a:cs typeface="Arial"/>
              </a:defRPr>
            </a:lvl3pPr>
            <a:lvl4pPr>
              <a:defRPr sz="2175" b="1">
                <a:solidFill>
                  <a:srgbClr val="167C80"/>
                </a:solidFill>
                <a:latin typeface="Arial"/>
                <a:ea typeface="Arial"/>
                <a:cs typeface="Arial"/>
              </a:defRPr>
            </a:lvl4pPr>
            <a:lvl5pPr>
              <a:defRPr sz="2175" b="1">
                <a:solidFill>
                  <a:srgbClr val="167C80"/>
                </a:solidFill>
                <a:latin typeface="Arial"/>
                <a:ea typeface="Arial"/>
                <a:cs typeface="Arial"/>
              </a:defRPr>
            </a:lvl5pPr>
            <a:lvl6pPr>
              <a:defRPr sz="2175" b="1">
                <a:solidFill>
                  <a:srgbClr val="167C80"/>
                </a:solidFill>
                <a:latin typeface="Arial"/>
                <a:ea typeface="Arial"/>
                <a:cs typeface="Arial"/>
              </a:defRPr>
            </a:lvl6pPr>
            <a:lvl7pPr>
              <a:defRPr sz="2175" b="1">
                <a:solidFill>
                  <a:srgbClr val="167C80"/>
                </a:solidFill>
                <a:latin typeface="Arial"/>
                <a:ea typeface="Arial"/>
                <a:cs typeface="Arial"/>
              </a:defRPr>
            </a:lvl7pPr>
            <a:lvl8pPr>
              <a:defRPr sz="2175" b="1">
                <a:solidFill>
                  <a:srgbClr val="167C80"/>
                </a:solidFill>
                <a:latin typeface="Arial"/>
                <a:ea typeface="Arial"/>
                <a:cs typeface="Arial"/>
              </a:defRPr>
            </a:lvl8pPr>
            <a:lvl9pPr>
              <a:defRPr sz="2175" b="1">
                <a:solidFill>
                  <a:srgbClr val="167C80"/>
                </a:solidFill>
                <a:latin typeface="Arial"/>
                <a:ea typeface="Arial"/>
                <a:cs typeface="Arial"/>
              </a:defRPr>
            </a:lvl9pPr>
          </a:lstStyle>
          <a:p xmlns:a="http://schemas.openxmlformats.org/drawingml/2006/main">
            <a:pPr>
              <a:defRPr sz="2175" b="1">
                <a:solidFill>
                  <a:srgbClr val="167C80"/>
                </a:solidFill>
                <a:latin typeface="Arial"/>
                <a:ea typeface="Arial"/>
                <a:cs typeface="Arial"/>
              </a:defRPr>
            </a:pPr>
            <a:r>
              <a:rPr sz="2175" b="1">
                <a:solidFill>
                  <a:srgbClr val="167C80"/>
                </a:solidFill>
                <a:latin typeface="Arial"/>
                <a:ea typeface="Arial"/>
                <a:cs typeface="Arial"/>
              </a:rPr>
              <a:t>Configuración seleccionada para LoRA. Semillas 42 y 43.</a:t>
            </a:r>
          </a:p>
          <a:p xmlns:a="http://schemas.openxmlformats.org/drawingml/2006/main">
            <a:pPr>
              <a:defRPr sz="2175" b="1">
                <a:solidFill>
                  <a:srgbClr val="167C80"/>
                </a:solidFill>
                <a:latin typeface="Arial"/>
                <a:ea typeface="Arial"/>
                <a:cs typeface="Arial"/>
              </a:defRPr>
            </a:pPr>
            <a:r>
              <a:rPr sz="2175" b="1">
                <a:solidFill>
                  <a:srgbClr val="167C80"/>
                </a:solidFill>
                <a:latin typeface="Arial"/>
                <a:ea typeface="Arial"/>
                <a:cs typeface="Arial"/>
              </a:rPr>
              <a:t>Los adaptadores entrenados se incluyen en la entrega.</a:t>
            </a:r>
          </a:p>
        </p:txBody>
      </p:sp>
      <p:sp>
        <p:nvSpPr>
          <p:cNvPr id="4" name="">
            <a:extLst xmlns:a="http://schemas.openxmlformats.org/drawingml/2006/main">
              <a:ext uri="{FF2B5EF4-FFF2-40B4-BE49-F238E27FC236}">
                <a16:creationId xmlns:a16="http://schemas.microsoft.com/office/drawing/2014/main" id="{F025985D-9EAB-4FA2-AB20-F73588512927}"/>
              </a:ext>
            </a:extLst>
          </p:cNvPr>
          <p:cNvSpPr>
            <a:spLocks xmlns:a="http://schemas.openxmlformats.org/drawingml/2006/main" noGrp="1"/>
          </p:cNvSpPr>
          <p:nvPr/>
        </p:nvSpPr>
        <p:spPr>
          <a:xfrm xmlns:a="http://schemas.openxmlformats.org/drawingml/2006/main">
            <a:off x="647700" y="60769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A6B7C"/>
                </a:solidFill>
                <a:latin typeface="Arial"/>
                <a:ea typeface="Arial"/>
                <a:cs typeface="Arial"/>
              </a:defRPr>
            </a:defPPr>
            <a:lvl1pPr>
              <a:defRPr sz="1650" b="0">
                <a:solidFill>
                  <a:srgbClr val="5A6B7C"/>
                </a:solidFill>
                <a:latin typeface="Arial"/>
                <a:ea typeface="Arial"/>
                <a:cs typeface="Arial"/>
              </a:defRPr>
            </a:lvl1pPr>
            <a:lvl2pPr>
              <a:defRPr sz="1650" b="0">
                <a:solidFill>
                  <a:srgbClr val="5A6B7C"/>
                </a:solidFill>
                <a:latin typeface="Arial"/>
                <a:ea typeface="Arial"/>
                <a:cs typeface="Arial"/>
              </a:defRPr>
            </a:lvl2pPr>
            <a:lvl3pPr>
              <a:defRPr sz="1650" b="0">
                <a:solidFill>
                  <a:srgbClr val="5A6B7C"/>
                </a:solidFill>
                <a:latin typeface="Arial"/>
                <a:ea typeface="Arial"/>
                <a:cs typeface="Arial"/>
              </a:defRPr>
            </a:lvl3pPr>
            <a:lvl4pPr>
              <a:defRPr sz="1650" b="0">
                <a:solidFill>
                  <a:srgbClr val="5A6B7C"/>
                </a:solidFill>
                <a:latin typeface="Arial"/>
                <a:ea typeface="Arial"/>
                <a:cs typeface="Arial"/>
              </a:defRPr>
            </a:lvl4pPr>
            <a:lvl5pPr>
              <a:defRPr sz="1650" b="0">
                <a:solidFill>
                  <a:srgbClr val="5A6B7C"/>
                </a:solidFill>
                <a:latin typeface="Arial"/>
                <a:ea typeface="Arial"/>
                <a:cs typeface="Arial"/>
              </a:defRPr>
            </a:lvl5pPr>
            <a:lvl6pPr>
              <a:defRPr sz="1650" b="0">
                <a:solidFill>
                  <a:srgbClr val="5A6B7C"/>
                </a:solidFill>
                <a:latin typeface="Arial"/>
                <a:ea typeface="Arial"/>
                <a:cs typeface="Arial"/>
              </a:defRPr>
            </a:lvl6pPr>
            <a:lvl7pPr>
              <a:defRPr sz="1650" b="0">
                <a:solidFill>
                  <a:srgbClr val="5A6B7C"/>
                </a:solidFill>
                <a:latin typeface="Arial"/>
                <a:ea typeface="Arial"/>
                <a:cs typeface="Arial"/>
              </a:defRPr>
            </a:lvl7pPr>
            <a:lvl8pPr>
              <a:defRPr sz="1650" b="0">
                <a:solidFill>
                  <a:srgbClr val="5A6B7C"/>
                </a:solidFill>
                <a:latin typeface="Arial"/>
                <a:ea typeface="Arial"/>
                <a:cs typeface="Arial"/>
              </a:defRPr>
            </a:lvl8pPr>
            <a:lvl9pPr>
              <a:defRPr sz="1650" b="0">
                <a:solidFill>
                  <a:srgbClr val="5A6B7C"/>
                </a:solidFill>
                <a:latin typeface="Arial"/>
                <a:ea typeface="Arial"/>
                <a:cs typeface="Arial"/>
              </a:defRPr>
            </a:lvl9pPr>
          </a:lstStyle>
          <a:p xmlns:a="http://schemas.openxmlformats.org/drawingml/2006/main">
            <a:pPr>
              <a:defRPr sz="1650" b="0">
                <a:solidFill>
                  <a:srgbClr val="5A6B7C"/>
                </a:solidFill>
                <a:latin typeface="Arial"/>
                <a:ea typeface="Arial"/>
                <a:cs typeface="Arial"/>
              </a:defRPr>
            </a:pPr>
            <a:r>
              <a:rPr sz="1650" b="0">
                <a:solidFill>
                  <a:srgbClr val="5A6B7C"/>
                </a:solidFill>
                <a:latin typeface="Arial"/>
                <a:ea typeface="Arial"/>
                <a:cs typeface="Arial"/>
              </a:rPr>
              <a:t>Control con r=32 · F1 de prueba: LoRA 0.875 / rsLoRA 0.854.</a:t>
            </a:r>
          </a:p>
          <a:p xmlns:a="http://schemas.openxmlformats.org/drawingml/2006/main">
            <a:pPr>
              <a:defRPr sz="1650" b="0">
                <a:solidFill>
                  <a:srgbClr val="5A6B7C"/>
                </a:solidFill>
                <a:latin typeface="Arial"/>
                <a:ea typeface="Arial"/>
                <a:cs typeface="Arial"/>
              </a:defRPr>
            </a:pPr>
            <a:r>
              <a:rPr sz="1650" b="0">
                <a:solidFill>
                  <a:srgbClr val="5A6B7C"/>
                </a:solidFill>
                <a:latin typeface="Arial"/>
                <a:ea typeface="Arial"/>
                <a:cs typeface="Arial"/>
              </a:rPr>
              <a:t>Mismo nodo RTX A6000. Latencia y réplicas en el notebook.</a:t>
            </a:r>
          </a:p>
        </p:txBody>
      </p:sp>
    </p:spTree>
    <p:extLst>
      <p:ext uri="{BB962C8B-B14F-4D97-AF65-F5344CB8AC3E}">
        <p14:creationId xmlns:p14="http://schemas.microsoft.com/office/powerpoint/2010/main" val="106871276"/>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5DCC4E-2DF0-4DDC-B434-C8045DAC2EF4}"/>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Comprobación final con 128 casos nuevos</a:t>
            </a:r>
          </a:p>
        </p:txBody>
      </p:sp>
      <p:graphicFrame>
        <p:nvGraphicFramePr>
          <p:cNvPr id="2" name="Chart">
            <a:extLst xmlns:a="http://schemas.openxmlformats.org/drawingml/2006/main">
              <a:ext uri="{FF2B5EF4-FFF2-40B4-BE49-F238E27FC236}">
                <a16:creationId xmlns:a16="http://schemas.microsoft.com/office/drawing/2014/main" id="{40F1CB93-FF6E-4501-B546-5E932BBFBFDC}"/>
              </a:ext>
            </a:extLst>
          </p:cNvPr>
          <p:cNvGraphicFramePr/>
          <p:nvPr/>
        </p:nvGraphicFramePr>
        <p:xfrm>
          <a:off xmlns:a="http://schemas.openxmlformats.org/drawingml/2006/main" x="904875" y="1666875"/>
          <a:ext xmlns:a="http://schemas.openxmlformats.org/drawingml/2006/main" cx="10334625" cy="3524250"/>
        </p:xfrm>
        <a:graphic xmlns:a="http://schemas.openxmlformats.org/drawingml/2006/main">
          <a:graphicData uri="http://schemas.openxmlformats.org/drawingml/2006/chart">
            <c:chart xmlns:r="http://schemas.openxmlformats.org/officeDocument/2006/relationships" xmlns:c="http://schemas.openxmlformats.org/drawingml/2006/chart" r:id="R2f77bd1ab0044e42"/>
          </a:graphicData>
        </a:graphic>
      </p:graphicFrame>
      <p:sp>
        <p:nvSpPr>
          <p:cNvPr id="3" name="">
            <a:extLst xmlns:a="http://schemas.openxmlformats.org/drawingml/2006/main">
              <a:ext uri="{FF2B5EF4-FFF2-40B4-BE49-F238E27FC236}">
                <a16:creationId xmlns:a16="http://schemas.microsoft.com/office/drawing/2014/main" id="{394C8193-3A90-4E42-925B-777361717078}"/>
              </a:ext>
            </a:extLst>
          </p:cNvPr>
          <p:cNvSpPr>
            <a:spLocks xmlns:a="http://schemas.openxmlformats.org/drawingml/2006/main" noGrp="1"/>
          </p:cNvSpPr>
          <p:nvPr/>
        </p:nvSpPr>
        <p:spPr>
          <a:xfrm xmlns:a="http://schemas.openxmlformats.org/drawingml/2006/main">
            <a:off x="647700" y="5429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7C80"/>
                </a:solidFill>
                <a:latin typeface="Arial"/>
                <a:ea typeface="Arial"/>
                <a:cs typeface="Arial"/>
              </a:defRPr>
            </a:defPPr>
            <a:lvl1pPr>
              <a:defRPr sz="2325" b="1">
                <a:solidFill>
                  <a:srgbClr val="167C80"/>
                </a:solidFill>
                <a:latin typeface="Arial"/>
                <a:ea typeface="Arial"/>
                <a:cs typeface="Arial"/>
              </a:defRPr>
            </a:lvl1pPr>
            <a:lvl2pPr>
              <a:defRPr sz="2325" b="1">
                <a:solidFill>
                  <a:srgbClr val="167C80"/>
                </a:solidFill>
                <a:latin typeface="Arial"/>
                <a:ea typeface="Arial"/>
                <a:cs typeface="Arial"/>
              </a:defRPr>
            </a:lvl2pPr>
            <a:lvl3pPr>
              <a:defRPr sz="2325" b="1">
                <a:solidFill>
                  <a:srgbClr val="167C80"/>
                </a:solidFill>
                <a:latin typeface="Arial"/>
                <a:ea typeface="Arial"/>
                <a:cs typeface="Arial"/>
              </a:defRPr>
            </a:lvl3pPr>
            <a:lvl4pPr>
              <a:defRPr sz="2325" b="1">
                <a:solidFill>
                  <a:srgbClr val="167C80"/>
                </a:solidFill>
                <a:latin typeface="Arial"/>
                <a:ea typeface="Arial"/>
                <a:cs typeface="Arial"/>
              </a:defRPr>
            </a:lvl4pPr>
            <a:lvl5pPr>
              <a:defRPr sz="2325" b="1">
                <a:solidFill>
                  <a:srgbClr val="167C80"/>
                </a:solidFill>
                <a:latin typeface="Arial"/>
                <a:ea typeface="Arial"/>
                <a:cs typeface="Arial"/>
              </a:defRPr>
            </a:lvl5pPr>
            <a:lvl6pPr>
              <a:defRPr sz="2325" b="1">
                <a:solidFill>
                  <a:srgbClr val="167C80"/>
                </a:solidFill>
                <a:latin typeface="Arial"/>
                <a:ea typeface="Arial"/>
                <a:cs typeface="Arial"/>
              </a:defRPr>
            </a:lvl6pPr>
            <a:lvl7pPr>
              <a:defRPr sz="2325" b="1">
                <a:solidFill>
                  <a:srgbClr val="167C80"/>
                </a:solidFill>
                <a:latin typeface="Arial"/>
                <a:ea typeface="Arial"/>
                <a:cs typeface="Arial"/>
              </a:defRPr>
            </a:lvl7pPr>
            <a:lvl8pPr>
              <a:defRPr sz="2325" b="1">
                <a:solidFill>
                  <a:srgbClr val="167C80"/>
                </a:solidFill>
                <a:latin typeface="Arial"/>
                <a:ea typeface="Arial"/>
                <a:cs typeface="Arial"/>
              </a:defRPr>
            </a:lvl8pPr>
            <a:lvl9pPr>
              <a:defRPr sz="2325" b="1">
                <a:solidFill>
                  <a:srgbClr val="167C80"/>
                </a:solidFill>
                <a:latin typeface="Arial"/>
                <a:ea typeface="Arial"/>
                <a:cs typeface="Arial"/>
              </a:defRPr>
            </a:lvl9pPr>
          </a:lstStyle>
          <a:p xmlns:a="http://schemas.openxmlformats.org/drawingml/2006/main">
            <a:pPr>
              <a:defRPr sz="2325" b="1">
                <a:solidFill>
                  <a:srgbClr val="167C80"/>
                </a:solidFill>
                <a:latin typeface="Arial"/>
                <a:ea typeface="Arial"/>
                <a:cs typeface="Arial"/>
              </a:defRPr>
            </a:pPr>
            <a:r>
              <a:rPr sz="2325" b="1">
                <a:solidFill>
                  <a:srgbClr val="167C80"/>
                </a:solidFill>
                <a:latin typeface="Arial"/>
                <a:ea typeface="Arial"/>
                <a:cs typeface="Arial"/>
              </a:rPr>
              <a:t>Casos abiertos después de seleccionar hiperparámetros.</a:t>
            </a:r>
          </a:p>
        </p:txBody>
      </p:sp>
      <p:sp>
        <p:nvSpPr>
          <p:cNvPr id="4" name="">
            <a:extLst xmlns:a="http://schemas.openxmlformats.org/drawingml/2006/main">
              <a:ext uri="{FF2B5EF4-FFF2-40B4-BE49-F238E27FC236}">
                <a16:creationId xmlns:a16="http://schemas.microsoft.com/office/drawing/2014/main" id="{1A43244F-A121-4239-8C58-55C95B1AED9D}"/>
              </a:ext>
            </a:extLst>
          </p:cNvPr>
          <p:cNvSpPr>
            <a:spLocks xmlns:a="http://schemas.openxmlformats.org/drawingml/2006/main" noGrp="1"/>
          </p:cNvSpPr>
          <p:nvPr/>
        </p:nvSpPr>
        <p:spPr>
          <a:xfrm xmlns:a="http://schemas.openxmlformats.org/drawingml/2006/main">
            <a:off x="647700" y="61150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A6B7C"/>
                </a:solidFill>
                <a:latin typeface="Arial"/>
                <a:ea typeface="Arial"/>
                <a:cs typeface="Arial"/>
              </a:defRPr>
            </a:defPPr>
            <a:lvl1pPr>
              <a:defRPr sz="1800" b="0">
                <a:solidFill>
                  <a:srgbClr val="5A6B7C"/>
                </a:solidFill>
                <a:latin typeface="Arial"/>
                <a:ea typeface="Arial"/>
                <a:cs typeface="Arial"/>
              </a:defRPr>
            </a:lvl1pPr>
            <a:lvl2pPr>
              <a:defRPr sz="1800" b="0">
                <a:solidFill>
                  <a:srgbClr val="5A6B7C"/>
                </a:solidFill>
                <a:latin typeface="Arial"/>
                <a:ea typeface="Arial"/>
                <a:cs typeface="Arial"/>
              </a:defRPr>
            </a:lvl2pPr>
            <a:lvl3pPr>
              <a:defRPr sz="1800" b="0">
                <a:solidFill>
                  <a:srgbClr val="5A6B7C"/>
                </a:solidFill>
                <a:latin typeface="Arial"/>
                <a:ea typeface="Arial"/>
                <a:cs typeface="Arial"/>
              </a:defRPr>
            </a:lvl3pPr>
            <a:lvl4pPr>
              <a:defRPr sz="1800" b="0">
                <a:solidFill>
                  <a:srgbClr val="5A6B7C"/>
                </a:solidFill>
                <a:latin typeface="Arial"/>
                <a:ea typeface="Arial"/>
                <a:cs typeface="Arial"/>
              </a:defRPr>
            </a:lvl4pPr>
            <a:lvl5pPr>
              <a:defRPr sz="1800" b="0">
                <a:solidFill>
                  <a:srgbClr val="5A6B7C"/>
                </a:solidFill>
                <a:latin typeface="Arial"/>
                <a:ea typeface="Arial"/>
                <a:cs typeface="Arial"/>
              </a:defRPr>
            </a:lvl5pPr>
            <a:lvl6pPr>
              <a:defRPr sz="1800" b="0">
                <a:solidFill>
                  <a:srgbClr val="5A6B7C"/>
                </a:solidFill>
                <a:latin typeface="Arial"/>
                <a:ea typeface="Arial"/>
                <a:cs typeface="Arial"/>
              </a:defRPr>
            </a:lvl6pPr>
            <a:lvl7pPr>
              <a:defRPr sz="1800" b="0">
                <a:solidFill>
                  <a:srgbClr val="5A6B7C"/>
                </a:solidFill>
                <a:latin typeface="Arial"/>
                <a:ea typeface="Arial"/>
                <a:cs typeface="Arial"/>
              </a:defRPr>
            </a:lvl7pPr>
            <a:lvl8pPr>
              <a:defRPr sz="1800" b="0">
                <a:solidFill>
                  <a:srgbClr val="5A6B7C"/>
                </a:solidFill>
                <a:latin typeface="Arial"/>
                <a:ea typeface="Arial"/>
                <a:cs typeface="Arial"/>
              </a:defRPr>
            </a:lvl8pPr>
            <a:lvl9pPr>
              <a:defRPr sz="1800" b="0">
                <a:solidFill>
                  <a:srgbClr val="5A6B7C"/>
                </a:solidFill>
                <a:latin typeface="Arial"/>
                <a:ea typeface="Arial"/>
                <a:cs typeface="Arial"/>
              </a:defRPr>
            </a:lvl9pPr>
          </a:lstStyle>
          <a:p xmlns:a="http://schemas.openxmlformats.org/drawingml/2006/main">
            <a:pPr>
              <a:defRPr sz="1800" b="0">
                <a:solidFill>
                  <a:srgbClr val="5A6B7C"/>
                </a:solidFill>
                <a:latin typeface="Arial"/>
                <a:ea typeface="Arial"/>
                <a:cs typeface="Arial"/>
              </a:defRPr>
            </a:pPr>
            <a:r>
              <a:rPr sz="1800" b="0">
                <a:solidFill>
                  <a:srgbClr val="5A6B7C"/>
                </a:solidFill>
                <a:latin typeface="Arial"/>
                <a:ea typeface="Arial"/>
                <a:cs typeface="Arial"/>
              </a:rPr>
              <a:t>Familias nuevas. Datos sintéticos. Medias de dos réplicas para los adaptadores.</a:t>
            </a:r>
          </a:p>
        </p:txBody>
      </p:sp>
    </p:spTree>
    <p:extLst>
      <p:ext uri="{BB962C8B-B14F-4D97-AF65-F5344CB8AC3E}">
        <p14:creationId xmlns:p14="http://schemas.microsoft.com/office/powerpoint/2010/main" val="1103207235"/>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92F203-1A4F-4675-A1AC-596DC7603C38}"/>
              </a:ext>
            </a:extLst>
          </p:cNvPr>
          <p:cNvSpPr>
            <a:spLocks xmlns:a="http://schemas.openxmlformats.org/drawingml/2006/main" noGrp="1"/>
          </p:cNvSpPr>
          <p:nvPr/>
        </p:nvSpPr>
        <p:spPr>
          <a:xfrm xmlns:a="http://schemas.openxmlformats.org/drawingml/2006/main">
            <a:off x="609600" y="400050"/>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447"/>
                </a:solidFill>
                <a:latin typeface="Arial"/>
                <a:ea typeface="Arial"/>
                <a:cs typeface="Arial"/>
              </a:defRPr>
            </a:defPPr>
            <a:lvl1pPr>
              <a:defRPr sz="3150" b="1">
                <a:solidFill>
                  <a:srgbClr val="173447"/>
                </a:solidFill>
                <a:latin typeface="Arial"/>
                <a:ea typeface="Arial"/>
                <a:cs typeface="Arial"/>
              </a:defRPr>
            </a:lvl1pPr>
            <a:lvl2pPr>
              <a:defRPr sz="3150" b="1">
                <a:solidFill>
                  <a:srgbClr val="173447"/>
                </a:solidFill>
                <a:latin typeface="Arial"/>
                <a:ea typeface="Arial"/>
                <a:cs typeface="Arial"/>
              </a:defRPr>
            </a:lvl2pPr>
            <a:lvl3pPr>
              <a:defRPr sz="3150" b="1">
                <a:solidFill>
                  <a:srgbClr val="173447"/>
                </a:solidFill>
                <a:latin typeface="Arial"/>
                <a:ea typeface="Arial"/>
                <a:cs typeface="Arial"/>
              </a:defRPr>
            </a:lvl3pPr>
            <a:lvl4pPr>
              <a:defRPr sz="3150" b="1">
                <a:solidFill>
                  <a:srgbClr val="173447"/>
                </a:solidFill>
                <a:latin typeface="Arial"/>
                <a:ea typeface="Arial"/>
                <a:cs typeface="Arial"/>
              </a:defRPr>
            </a:lvl4pPr>
            <a:lvl5pPr>
              <a:defRPr sz="3150" b="1">
                <a:solidFill>
                  <a:srgbClr val="173447"/>
                </a:solidFill>
                <a:latin typeface="Arial"/>
                <a:ea typeface="Arial"/>
                <a:cs typeface="Arial"/>
              </a:defRPr>
            </a:lvl5pPr>
            <a:lvl6pPr>
              <a:defRPr sz="3150" b="1">
                <a:solidFill>
                  <a:srgbClr val="173447"/>
                </a:solidFill>
                <a:latin typeface="Arial"/>
                <a:ea typeface="Arial"/>
                <a:cs typeface="Arial"/>
              </a:defRPr>
            </a:lvl6pPr>
            <a:lvl7pPr>
              <a:defRPr sz="3150" b="1">
                <a:solidFill>
                  <a:srgbClr val="173447"/>
                </a:solidFill>
                <a:latin typeface="Arial"/>
                <a:ea typeface="Arial"/>
                <a:cs typeface="Arial"/>
              </a:defRPr>
            </a:lvl7pPr>
            <a:lvl8pPr>
              <a:defRPr sz="3150" b="1">
                <a:solidFill>
                  <a:srgbClr val="173447"/>
                </a:solidFill>
                <a:latin typeface="Arial"/>
                <a:ea typeface="Arial"/>
                <a:cs typeface="Arial"/>
              </a:defRPr>
            </a:lvl8pPr>
            <a:lvl9pPr>
              <a:defRPr sz="3150" b="1">
                <a:solidFill>
                  <a:srgbClr val="173447"/>
                </a:solidFill>
                <a:latin typeface="Arial"/>
                <a:ea typeface="Arial"/>
                <a:cs typeface="Arial"/>
              </a:defRPr>
            </a:lvl9pPr>
          </a:lstStyle>
          <a:p xmlns:a="http://schemas.openxmlformats.org/drawingml/2006/main">
            <a:pPr>
              <a:defRPr sz="3150" b="1">
                <a:solidFill>
                  <a:srgbClr val="173447"/>
                </a:solidFill>
                <a:latin typeface="Arial"/>
                <a:ea typeface="Arial"/>
                <a:cs typeface="Arial"/>
              </a:defRPr>
            </a:pPr>
            <a:r>
              <a:rPr sz="3150" b="1">
                <a:solidFill>
                  <a:srgbClr val="173447"/>
                </a:solidFill>
                <a:latin typeface="Arial"/>
                <a:ea typeface="Arial"/>
                <a:cs typeface="Arial"/>
              </a:rPr>
              <a:t>Conclusiones y alcance</a:t>
            </a:r>
          </a:p>
        </p:txBody>
      </p:sp>
      <p:sp>
        <p:nvSpPr>
          <p:cNvPr id="2" name="">
            <a:extLst xmlns:a="http://schemas.openxmlformats.org/drawingml/2006/main">
              <a:ext uri="{FF2B5EF4-FFF2-40B4-BE49-F238E27FC236}">
                <a16:creationId xmlns:a16="http://schemas.microsoft.com/office/drawing/2014/main" id="{92E1CEA8-87C9-405F-9A36-74EC4D3302EA}"/>
              </a:ext>
            </a:extLst>
          </p:cNvPr>
          <p:cNvSpPr>
            <a:spLocks xmlns:a="http://schemas.openxmlformats.org/drawingml/2006/main" noGrp="1"/>
          </p:cNvSpPr>
          <p:nvPr/>
        </p:nvSpPr>
        <p:spPr>
          <a:xfrm xmlns:a="http://schemas.openxmlformats.org/drawingml/2006/main">
            <a:off x="647700" y="16192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67C80"/>
                </a:solidFill>
                <a:latin typeface="Arial"/>
                <a:ea typeface="Arial"/>
                <a:cs typeface="Arial"/>
              </a:defRPr>
            </a:defPPr>
            <a:lvl1pPr>
              <a:defRPr sz="2700" b="1">
                <a:solidFill>
                  <a:srgbClr val="167C80"/>
                </a:solidFill>
                <a:latin typeface="Arial"/>
                <a:ea typeface="Arial"/>
                <a:cs typeface="Arial"/>
              </a:defRPr>
            </a:lvl1pPr>
            <a:lvl2pPr>
              <a:defRPr sz="2700" b="1">
                <a:solidFill>
                  <a:srgbClr val="167C80"/>
                </a:solidFill>
                <a:latin typeface="Arial"/>
                <a:ea typeface="Arial"/>
                <a:cs typeface="Arial"/>
              </a:defRPr>
            </a:lvl2pPr>
            <a:lvl3pPr>
              <a:defRPr sz="2700" b="1">
                <a:solidFill>
                  <a:srgbClr val="167C80"/>
                </a:solidFill>
                <a:latin typeface="Arial"/>
                <a:ea typeface="Arial"/>
                <a:cs typeface="Arial"/>
              </a:defRPr>
            </a:lvl3pPr>
            <a:lvl4pPr>
              <a:defRPr sz="2700" b="1">
                <a:solidFill>
                  <a:srgbClr val="167C80"/>
                </a:solidFill>
                <a:latin typeface="Arial"/>
                <a:ea typeface="Arial"/>
                <a:cs typeface="Arial"/>
              </a:defRPr>
            </a:lvl4pPr>
            <a:lvl5pPr>
              <a:defRPr sz="2700" b="1">
                <a:solidFill>
                  <a:srgbClr val="167C80"/>
                </a:solidFill>
                <a:latin typeface="Arial"/>
                <a:ea typeface="Arial"/>
                <a:cs typeface="Arial"/>
              </a:defRPr>
            </a:lvl5pPr>
            <a:lvl6pPr>
              <a:defRPr sz="2700" b="1">
                <a:solidFill>
                  <a:srgbClr val="167C80"/>
                </a:solidFill>
                <a:latin typeface="Arial"/>
                <a:ea typeface="Arial"/>
                <a:cs typeface="Arial"/>
              </a:defRPr>
            </a:lvl6pPr>
            <a:lvl7pPr>
              <a:defRPr sz="2700" b="1">
                <a:solidFill>
                  <a:srgbClr val="167C80"/>
                </a:solidFill>
                <a:latin typeface="Arial"/>
                <a:ea typeface="Arial"/>
                <a:cs typeface="Arial"/>
              </a:defRPr>
            </a:lvl7pPr>
            <a:lvl8pPr>
              <a:defRPr sz="2700" b="1">
                <a:solidFill>
                  <a:srgbClr val="167C80"/>
                </a:solidFill>
                <a:latin typeface="Arial"/>
                <a:ea typeface="Arial"/>
                <a:cs typeface="Arial"/>
              </a:defRPr>
            </a:lvl8pPr>
            <a:lvl9pPr>
              <a:defRPr sz="2700" b="1">
                <a:solidFill>
                  <a:srgbClr val="167C80"/>
                </a:solidFill>
                <a:latin typeface="Arial"/>
                <a:ea typeface="Arial"/>
                <a:cs typeface="Arial"/>
              </a:defRPr>
            </a:lvl9pPr>
          </a:lstStyle>
          <a:p xmlns:a="http://schemas.openxmlformats.org/drawingml/2006/main">
            <a:pPr>
              <a:defRPr sz="2700" b="1">
                <a:solidFill>
                  <a:srgbClr val="167C80"/>
                </a:solidFill>
                <a:latin typeface="Arial"/>
                <a:ea typeface="Arial"/>
                <a:cs typeface="Arial"/>
              </a:defRPr>
            </a:pPr>
            <a:r>
              <a:rPr sz="2700" b="1">
                <a:solidFill>
                  <a:srgbClr val="167C80"/>
                </a:solidFill>
                <a:latin typeface="Arial"/>
                <a:ea typeface="Arial"/>
                <a:cs typeface="Arial"/>
              </a:rPr>
              <a:t>Configuración recomendada: r=1, alpha=32.</a:t>
            </a:r>
          </a:p>
        </p:txBody>
      </p:sp>
      <p:sp>
        <p:nvSpPr>
          <p:cNvPr id="3" name="">
            <a:extLst xmlns:a="http://schemas.openxmlformats.org/drawingml/2006/main">
              <a:ext uri="{FF2B5EF4-FFF2-40B4-BE49-F238E27FC236}">
                <a16:creationId xmlns:a16="http://schemas.microsoft.com/office/drawing/2014/main" id="{B8E73532-ACE7-43B1-AAD2-4EBF54F030B5}"/>
              </a:ext>
            </a:extLst>
          </p:cNvPr>
          <p:cNvSpPr>
            <a:spLocks xmlns:a="http://schemas.openxmlformats.org/drawingml/2006/main" noGrp="1"/>
          </p:cNvSpPr>
          <p:nvPr/>
        </p:nvSpPr>
        <p:spPr>
          <a:xfrm xmlns:a="http://schemas.openxmlformats.org/drawingml/2006/main">
            <a:off x="647700" y="2762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447"/>
                </a:solidFill>
                <a:latin typeface="Arial"/>
                <a:ea typeface="Arial"/>
                <a:cs typeface="Arial"/>
              </a:defRPr>
            </a:defPPr>
            <a:lvl1pPr>
              <a:defRPr sz="2400" b="0">
                <a:solidFill>
                  <a:srgbClr val="173447"/>
                </a:solidFill>
                <a:latin typeface="Arial"/>
                <a:ea typeface="Arial"/>
                <a:cs typeface="Arial"/>
              </a:defRPr>
            </a:lvl1pPr>
            <a:lvl2pPr>
              <a:defRPr sz="2400" b="0">
                <a:solidFill>
                  <a:srgbClr val="173447"/>
                </a:solidFill>
                <a:latin typeface="Arial"/>
                <a:ea typeface="Arial"/>
                <a:cs typeface="Arial"/>
              </a:defRPr>
            </a:lvl2pPr>
            <a:lvl3pPr>
              <a:defRPr sz="2400" b="0">
                <a:solidFill>
                  <a:srgbClr val="173447"/>
                </a:solidFill>
                <a:latin typeface="Arial"/>
                <a:ea typeface="Arial"/>
                <a:cs typeface="Arial"/>
              </a:defRPr>
            </a:lvl3pPr>
            <a:lvl4pPr>
              <a:defRPr sz="2400" b="0">
                <a:solidFill>
                  <a:srgbClr val="173447"/>
                </a:solidFill>
                <a:latin typeface="Arial"/>
                <a:ea typeface="Arial"/>
                <a:cs typeface="Arial"/>
              </a:defRPr>
            </a:lvl4pPr>
            <a:lvl5pPr>
              <a:defRPr sz="2400" b="0">
                <a:solidFill>
                  <a:srgbClr val="173447"/>
                </a:solidFill>
                <a:latin typeface="Arial"/>
                <a:ea typeface="Arial"/>
                <a:cs typeface="Arial"/>
              </a:defRPr>
            </a:lvl5pPr>
            <a:lvl6pPr>
              <a:defRPr sz="2400" b="0">
                <a:solidFill>
                  <a:srgbClr val="173447"/>
                </a:solidFill>
                <a:latin typeface="Arial"/>
                <a:ea typeface="Arial"/>
                <a:cs typeface="Arial"/>
              </a:defRPr>
            </a:lvl6pPr>
            <a:lvl7pPr>
              <a:defRPr sz="2400" b="0">
                <a:solidFill>
                  <a:srgbClr val="173447"/>
                </a:solidFill>
                <a:latin typeface="Arial"/>
                <a:ea typeface="Arial"/>
                <a:cs typeface="Arial"/>
              </a:defRPr>
            </a:lvl7pPr>
            <a:lvl8pPr>
              <a:defRPr sz="2400" b="0">
                <a:solidFill>
                  <a:srgbClr val="173447"/>
                </a:solidFill>
                <a:latin typeface="Arial"/>
                <a:ea typeface="Arial"/>
                <a:cs typeface="Arial"/>
              </a:defRPr>
            </a:lvl8pPr>
            <a:lvl9pPr>
              <a:defRPr sz="2400" b="0">
                <a:solidFill>
                  <a:srgbClr val="173447"/>
                </a:solidFill>
                <a:latin typeface="Arial"/>
                <a:ea typeface="Arial"/>
                <a:cs typeface="Arial"/>
              </a:defRPr>
            </a:lvl9pPr>
          </a:lstStyle>
          <a:p xmlns:a="http://schemas.openxmlformats.org/drawingml/2006/main">
            <a:pPr>
              <a:defRPr sz="2400" b="0">
                <a:solidFill>
                  <a:srgbClr val="173447"/>
                </a:solidFill>
                <a:latin typeface="Arial"/>
                <a:ea typeface="Arial"/>
                <a:cs typeface="Arial"/>
              </a:defRPr>
            </a:pPr>
            <a:r>
              <a:rPr sz="2400" b="0">
                <a:solidFill>
                  <a:srgbClr val="173447"/>
                </a:solidFill>
                <a:latin typeface="Arial"/>
                <a:ea typeface="Arial"/>
                <a:cs typeface="Arial"/>
              </a:rPr>
              <a:t>De r=1 a r=2, el aumento no alcanza la mejora práctica fijada de 0.02 de F1.</a:t>
            </a:r>
          </a:p>
        </p:txBody>
      </p:sp>
      <p:sp>
        <p:nvSpPr>
          <p:cNvPr id="4" name="">
            <a:extLst xmlns:a="http://schemas.openxmlformats.org/drawingml/2006/main">
              <a:ext uri="{FF2B5EF4-FFF2-40B4-BE49-F238E27FC236}">
                <a16:creationId xmlns:a16="http://schemas.microsoft.com/office/drawing/2014/main" id="{FCD6ECB6-9E94-4CD1-951A-B0B887102FDA}"/>
              </a:ext>
            </a:extLst>
          </p:cNvPr>
          <p:cNvSpPr>
            <a:spLocks xmlns:a="http://schemas.openxmlformats.org/drawingml/2006/main" noGrp="1"/>
          </p:cNvSpPr>
          <p:nvPr/>
        </p:nvSpPr>
        <p:spPr>
          <a:xfrm xmlns:a="http://schemas.openxmlformats.org/drawingml/2006/main">
            <a:off x="647700" y="41433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7"/>
                </a:solidFill>
                <a:latin typeface="Arial"/>
                <a:ea typeface="Arial"/>
                <a:cs typeface="Arial"/>
              </a:defRPr>
            </a:defPPr>
            <a:lvl1pPr>
              <a:defRPr sz="2100" b="0">
                <a:solidFill>
                  <a:srgbClr val="173447"/>
                </a:solidFill>
                <a:latin typeface="Arial"/>
                <a:ea typeface="Arial"/>
                <a:cs typeface="Arial"/>
              </a:defRPr>
            </a:lvl1pPr>
            <a:lvl2pPr>
              <a:defRPr sz="2100" b="0">
                <a:solidFill>
                  <a:srgbClr val="173447"/>
                </a:solidFill>
                <a:latin typeface="Arial"/>
                <a:ea typeface="Arial"/>
                <a:cs typeface="Arial"/>
              </a:defRPr>
            </a:lvl2pPr>
            <a:lvl3pPr>
              <a:defRPr sz="2100" b="0">
                <a:solidFill>
                  <a:srgbClr val="173447"/>
                </a:solidFill>
                <a:latin typeface="Arial"/>
                <a:ea typeface="Arial"/>
                <a:cs typeface="Arial"/>
              </a:defRPr>
            </a:lvl3pPr>
            <a:lvl4pPr>
              <a:defRPr sz="2100" b="0">
                <a:solidFill>
                  <a:srgbClr val="173447"/>
                </a:solidFill>
                <a:latin typeface="Arial"/>
                <a:ea typeface="Arial"/>
                <a:cs typeface="Arial"/>
              </a:defRPr>
            </a:lvl4pPr>
            <a:lvl5pPr>
              <a:defRPr sz="2100" b="0">
                <a:solidFill>
                  <a:srgbClr val="173447"/>
                </a:solidFill>
                <a:latin typeface="Arial"/>
                <a:ea typeface="Arial"/>
                <a:cs typeface="Arial"/>
              </a:defRPr>
            </a:lvl5pPr>
            <a:lvl6pPr>
              <a:defRPr sz="2100" b="0">
                <a:solidFill>
                  <a:srgbClr val="173447"/>
                </a:solidFill>
                <a:latin typeface="Arial"/>
                <a:ea typeface="Arial"/>
                <a:cs typeface="Arial"/>
              </a:defRPr>
            </a:lvl6pPr>
            <a:lvl7pPr>
              <a:defRPr sz="2100" b="0">
                <a:solidFill>
                  <a:srgbClr val="173447"/>
                </a:solidFill>
                <a:latin typeface="Arial"/>
                <a:ea typeface="Arial"/>
                <a:cs typeface="Arial"/>
              </a:defRPr>
            </a:lvl7pPr>
            <a:lvl8pPr>
              <a:defRPr sz="2100" b="0">
                <a:solidFill>
                  <a:srgbClr val="173447"/>
                </a:solidFill>
                <a:latin typeface="Arial"/>
                <a:ea typeface="Arial"/>
                <a:cs typeface="Arial"/>
              </a:defRPr>
            </a:lvl8pPr>
            <a:lvl9pPr>
              <a:defRPr sz="2100" b="0">
                <a:solidFill>
                  <a:srgbClr val="173447"/>
                </a:solidFill>
                <a:latin typeface="Arial"/>
                <a:ea typeface="Arial"/>
                <a:cs typeface="Arial"/>
              </a:defRPr>
            </a:lvl9pPr>
          </a:lstStyle>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Mayor media de validación a rango y alpha compartidos: DoRA.</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En casos nuevos: F1 0.838, frente a 0.835 de LoRA.</a:t>
            </a:r>
          </a:p>
        </p:txBody>
      </p:sp>
      <p:sp>
        <p:nvSpPr>
          <p:cNvPr id="5" name="">
            <a:extLst xmlns:a="http://schemas.openxmlformats.org/drawingml/2006/main">
              <a:ext uri="{FF2B5EF4-FFF2-40B4-BE49-F238E27FC236}">
                <a16:creationId xmlns:a16="http://schemas.microsoft.com/office/drawing/2014/main" id="{A424FD51-FDC7-4245-BE1D-C88810163F8F}"/>
              </a:ext>
            </a:extLst>
          </p:cNvPr>
          <p:cNvSpPr>
            <a:spLocks xmlns:a="http://schemas.openxmlformats.org/drawingml/2006/main" noGrp="1"/>
          </p:cNvSpPr>
          <p:nvPr/>
        </p:nvSpPr>
        <p:spPr>
          <a:xfrm xmlns:a="http://schemas.openxmlformats.org/drawingml/2006/main">
            <a:off x="647700" y="57054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A6B7C"/>
                </a:solidFill>
                <a:latin typeface="Arial"/>
                <a:ea typeface="Arial"/>
                <a:cs typeface="Arial"/>
              </a:defRPr>
            </a:defPPr>
            <a:lvl1pPr>
              <a:defRPr sz="1950" b="0">
                <a:solidFill>
                  <a:srgbClr val="5A6B7C"/>
                </a:solidFill>
                <a:latin typeface="Arial"/>
                <a:ea typeface="Arial"/>
                <a:cs typeface="Arial"/>
              </a:defRPr>
            </a:lvl1pPr>
            <a:lvl2pPr>
              <a:defRPr sz="1950" b="0">
                <a:solidFill>
                  <a:srgbClr val="5A6B7C"/>
                </a:solidFill>
                <a:latin typeface="Arial"/>
                <a:ea typeface="Arial"/>
                <a:cs typeface="Arial"/>
              </a:defRPr>
            </a:lvl2pPr>
            <a:lvl3pPr>
              <a:defRPr sz="1950" b="0">
                <a:solidFill>
                  <a:srgbClr val="5A6B7C"/>
                </a:solidFill>
                <a:latin typeface="Arial"/>
                <a:ea typeface="Arial"/>
                <a:cs typeface="Arial"/>
              </a:defRPr>
            </a:lvl3pPr>
            <a:lvl4pPr>
              <a:defRPr sz="1950" b="0">
                <a:solidFill>
                  <a:srgbClr val="5A6B7C"/>
                </a:solidFill>
                <a:latin typeface="Arial"/>
                <a:ea typeface="Arial"/>
                <a:cs typeface="Arial"/>
              </a:defRPr>
            </a:lvl4pPr>
            <a:lvl5pPr>
              <a:defRPr sz="1950" b="0">
                <a:solidFill>
                  <a:srgbClr val="5A6B7C"/>
                </a:solidFill>
                <a:latin typeface="Arial"/>
                <a:ea typeface="Arial"/>
                <a:cs typeface="Arial"/>
              </a:defRPr>
            </a:lvl5pPr>
            <a:lvl6pPr>
              <a:defRPr sz="1950" b="0">
                <a:solidFill>
                  <a:srgbClr val="5A6B7C"/>
                </a:solidFill>
                <a:latin typeface="Arial"/>
                <a:ea typeface="Arial"/>
                <a:cs typeface="Arial"/>
              </a:defRPr>
            </a:lvl6pPr>
            <a:lvl7pPr>
              <a:defRPr sz="1950" b="0">
                <a:solidFill>
                  <a:srgbClr val="5A6B7C"/>
                </a:solidFill>
                <a:latin typeface="Arial"/>
                <a:ea typeface="Arial"/>
                <a:cs typeface="Arial"/>
              </a:defRPr>
            </a:lvl7pPr>
            <a:lvl8pPr>
              <a:defRPr sz="1950" b="0">
                <a:solidFill>
                  <a:srgbClr val="5A6B7C"/>
                </a:solidFill>
                <a:latin typeface="Arial"/>
                <a:ea typeface="Arial"/>
                <a:cs typeface="Arial"/>
              </a:defRPr>
            </a:lvl8pPr>
            <a:lvl9pPr>
              <a:defRPr sz="1950" b="0">
                <a:solidFill>
                  <a:srgbClr val="5A6B7C"/>
                </a:solidFill>
                <a:latin typeface="Arial"/>
                <a:ea typeface="Arial"/>
                <a:cs typeface="Arial"/>
              </a:defRPr>
            </a:lvl9pPr>
          </a:lstStyle>
          <a:p xmlns:a="http://schemas.openxmlformats.org/drawingml/2006/main">
            <a:pPr>
              <a:defRPr sz="1950" b="0">
                <a:solidFill>
                  <a:srgbClr val="5A6B7C"/>
                </a:solidFill>
                <a:latin typeface="Arial"/>
                <a:ea typeface="Arial"/>
                <a:cs typeface="Arial"/>
              </a:defRPr>
            </a:pPr>
            <a:r>
              <a:rPr sz="1950" b="0">
                <a:solidFill>
                  <a:srgbClr val="5A6B7C"/>
                </a:solidFill>
                <a:latin typeface="Arial"/>
                <a:ea typeface="Arial"/>
                <a:cs typeface="Arial"/>
              </a:rPr>
              <a:t>Resultados locales a esta tarea y presupuesto. Dos semillas, datos sintéticos</a:t>
            </a:r>
          </a:p>
          <a:p xmlns:a="http://schemas.openxmlformats.org/drawingml/2006/main">
            <a:pPr>
              <a:defRPr sz="1950" b="0">
                <a:solidFill>
                  <a:srgbClr val="5A6B7C"/>
                </a:solidFill>
                <a:latin typeface="Arial"/>
                <a:ea typeface="Arial"/>
                <a:cs typeface="Arial"/>
              </a:defRPr>
            </a:pPr>
            <a:r>
              <a:rPr sz="1950" b="0">
                <a:solidFill>
                  <a:srgbClr val="5A6B7C"/>
                </a:solidFill>
                <a:latin typeface="Arial"/>
                <a:ea typeface="Arial"/>
                <a:cs typeface="Arial"/>
              </a:rPr>
              <a:t>y GPU compartida limitan la precisión y la transferencia a uso real.</a:t>
            </a:r>
          </a:p>
        </p:txBody>
      </p:sp>
    </p:spTree>
    <p:extLst>
      <p:ext uri="{BB962C8B-B14F-4D97-AF65-F5344CB8AC3E}">
        <p14:creationId xmlns:p14="http://schemas.microsoft.com/office/powerpoint/2010/main" val="14049400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2026-10-23T15:37:23.6330000Z</dcterms:created>
  <dcterms:modified xsi:type="dcterms:W3CDTF">2026-10-23T15:37:23.6330000Z</dcterms:modified>
</coreProperties>
</file>