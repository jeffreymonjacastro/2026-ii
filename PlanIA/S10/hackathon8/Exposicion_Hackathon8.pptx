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d35886e66b4f85" /><Relationship Type="http://schemas.openxmlformats.org/officeDocument/2006/relationships/extended-properties" Target="/docProps/app.xml" Id="R63892382b16c4539" /><Relationship Type="http://schemas.openxmlformats.org/officeDocument/2006/relationships/officeDocument" Target="/ppt/presentation.xml" Id="Rcd03f13a9ce44f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1feb195f9e44aa"/>
  </p:sldMasterIdLst>
  <p:notesMasterIdLst>
    <p:notesMasterId xmlns:r="http://schemas.openxmlformats.org/officeDocument/2006/relationships" r:id="R42af3e63ed054429"/>
  </p:notesMasterIdLst>
  <p:sldIdLst>
    <p:sldId xmlns:r="http://schemas.openxmlformats.org/officeDocument/2006/relationships" id="256" r:id="Raa3c91d77076430f"/>
    <p:sldId xmlns:r="http://schemas.openxmlformats.org/officeDocument/2006/relationships" id="257" r:id="Rdb3b00a8e88a4541"/>
    <p:sldId xmlns:r="http://schemas.openxmlformats.org/officeDocument/2006/relationships" id="258" r:id="Rf472cedf18384bb9"/>
    <p:sldId xmlns:r="http://schemas.openxmlformats.org/officeDocument/2006/relationships" id="259" r:id="Re1f2a88270444260"/>
    <p:sldId xmlns:r="http://schemas.openxmlformats.org/officeDocument/2006/relationships" id="260" r:id="R7cd8c3cf29dd40e5"/>
    <p:sldId xmlns:r="http://schemas.openxmlformats.org/officeDocument/2006/relationships" id="261" r:id="R4a7caf2f08e34855"/>
    <p:sldId xmlns:r="http://schemas.openxmlformats.org/officeDocument/2006/relationships" id="262" r:id="R9b457a27622f4a69"/>
    <p:sldId xmlns:r="http://schemas.openxmlformats.org/officeDocument/2006/relationships" id="263" r:id="Rcef7c3928c2d44ec"/>
    <p:sldId xmlns:r="http://schemas.openxmlformats.org/officeDocument/2006/relationships" id="264" r:id="R0a94c7922c714c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8ebf942e3048ac" /><Relationship Type="http://schemas.openxmlformats.org/officeDocument/2006/relationships/slideMaster" Target="/ppt/slideMasters/slideMaster1.xml" Id="Rd01feb195f9e44aa" /><Relationship Type="http://schemas.openxmlformats.org/officeDocument/2006/relationships/notesMaster" Target="/ppt/notesMasters/notesMaster1.xml" Id="R42af3e63ed054429" /><Relationship Type="http://schemas.openxmlformats.org/officeDocument/2006/relationships/presProps" Target="/ppt/presProps.xml" Id="R153facf322df48d7" /><Relationship Type="http://schemas.openxmlformats.org/officeDocument/2006/relationships/tableStyles" Target="/ppt/tableStyles.xml" Id="R3e66cadb1bef46e7" /><Relationship Type="http://schemas.openxmlformats.org/officeDocument/2006/relationships/slide" Target="/ppt/slides/slide1.xml" Id="Raa3c91d77076430f" /><Relationship Type="http://schemas.openxmlformats.org/officeDocument/2006/relationships/slide" Target="/ppt/slides/slide2.xml" Id="Rdb3b00a8e88a4541" /><Relationship Type="http://schemas.openxmlformats.org/officeDocument/2006/relationships/slide" Target="/ppt/slides/slide3.xml" Id="Rf472cedf18384bb9" /><Relationship Type="http://schemas.openxmlformats.org/officeDocument/2006/relationships/slide" Target="/ppt/slides/slide4.xml" Id="Re1f2a88270444260" /><Relationship Type="http://schemas.openxmlformats.org/officeDocument/2006/relationships/slide" Target="/ppt/slides/slide5.xml" Id="R7cd8c3cf29dd40e5" /><Relationship Type="http://schemas.openxmlformats.org/officeDocument/2006/relationships/slide" Target="/ppt/slides/slide6.xml" Id="R4a7caf2f08e34855" /><Relationship Type="http://schemas.openxmlformats.org/officeDocument/2006/relationships/slide" Target="/ppt/slides/slide7.xml" Id="R9b457a27622f4a69" /><Relationship Type="http://schemas.openxmlformats.org/officeDocument/2006/relationships/slide" Target="/ppt/slides/slide8.xml" Id="Rcef7c3928c2d44ec" /><Relationship Type="http://schemas.openxmlformats.org/officeDocument/2006/relationships/slide" Target="/ppt/slides/slide9.xml" Id="R0a94c7922c714c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ce1329e2634f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b6bc2106e34fb9" /><Relationship Type="http://schemas.openxmlformats.org/officeDocument/2006/relationships/notesMaster" Target="/ppt/notesMasters/notesMaster1.xml" Id="R681890214afb48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0048e109994942" /><Relationship Type="http://schemas.openxmlformats.org/officeDocument/2006/relationships/notesMaster" Target="/ppt/notesMasters/notesMaster1.xml" Id="R67f3f46fc04745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c0264a0bf842c3" /><Relationship Type="http://schemas.openxmlformats.org/officeDocument/2006/relationships/notesMaster" Target="/ppt/notesMasters/notesMaster1.xml" Id="Rb8f1105c692446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8d4cf1202e47c5" /><Relationship Type="http://schemas.openxmlformats.org/officeDocument/2006/relationships/notesMaster" Target="/ppt/notesMasters/notesMaster1.xml" Id="Rb824ee75e4ae49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7741ed2c0645ca" /><Relationship Type="http://schemas.openxmlformats.org/officeDocument/2006/relationships/notesMaster" Target="/ppt/notesMasters/notesMaster1.xml" Id="R50d40ed8463544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6e38d8a64041b3" /><Relationship Type="http://schemas.openxmlformats.org/officeDocument/2006/relationships/notesMaster" Target="/ppt/notesMasters/notesMaster1.xml" Id="R4fcbfa6dcf0543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d059ab82ea4192" /><Relationship Type="http://schemas.openxmlformats.org/officeDocument/2006/relationships/notesMaster" Target="/ppt/notesMasters/notesMaster1.xml" Id="R6c9849c039e74f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8542cb6fcf4835" /><Relationship Type="http://schemas.openxmlformats.org/officeDocument/2006/relationships/notesMaster" Target="/ppt/notesMasters/notesMaster1.xml" Id="R9113846fa11d41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79d75e545e4837" /><Relationship Type="http://schemas.openxmlformats.org/officeDocument/2006/relationships/notesMaster" Target="/ppt/notesMasters/notesMaster1.xml" Id="R7ef07a7741a542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asignar prioridades según múltiples criterios y generar un JSON verificable. Todos los ejemplos del ejercicio son sintéticos. Fuentes: material del docente y https://huggingface.co/Qwen/Qwen3.5-4B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reglas se aplican en orden. Crítica incluye seguridad física, exposición activa de datos o interrupción total para al menos 50 personas sin alternativa. Alta: plazo &lt;=8 horas y (impacto &gt;=medio o al menos tres dependencias), o impacto alto sin alternativa. Fuente: política definida antes de entrenar en src/dataset_generator.py.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Datos y hashes en data/audit.json. Validaciones en data/checks.json. La distribución equilibrada es una decisión del conjunto sintético, no una estimación de frecuencias reales. Los casos difíciles agregan presión, tono e instrucciones contradictorias.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DoRA: https://huggingface.co/docs/peft/en/package_reference/lora y https://arxiv.org/abs/2402.09353. Se usan las implementaciones de PEFT. Los adaptadores parten de modelos cargados de forma independiente, sin encadenar LoRA y DoRA. Se entrena solo la respuesta JSON con plantilla nativa de Qwen y se evalúa sin muestreo.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results/all_metrics.json y results/analysis.json. F1 macro sobre cuatro clases. Una salida con esquema inválido se trata como predicción inválida. Los intervalos del informe usan 1000 remuestreos estratificados de casos con semilla 20261023; no representan variación entre semillas de entrenamiento.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results/hardware.json y archivos *_training.json. VRAM: pico de memoria asignada por PyTorch al proceso, no consumo total de la tarjeta. Se excluyen descarga, espera e inferencia del costo simulado. La GPU se comparte con otros trabajos y la carga externa puede alterar tiempos. No es una tarifa ni un pago realizado a Khipu.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results/all_metrics.json, slices.csv y error_examples.json. JSON exacto exige acertar prioridad, escalamiento, bloqueo y criterio. La recuperación crítica mide la fracción de tareas críticas identificadas. Dos semillas de LoRA ofrecen una comprobación acotada de estabilidad.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Comparación con tecnología posterior solicitada por el enunciado. Se entrenó DoRA con PEFT, use_dora=True. Evidencia: src/experiment.py, adapters/dora/ y results/all_metrics.json. Ambos métodos obtienen 100% de esquema válido, 78.125% de coincidencia exacta y 87.5% de recuperación crítica. Cocientes DoRA/LoRA calculados a partir de registros reales. No prueba superioridad general de LoRA. DoRA sin fusionar añade operaciones; PEFT recomienda fusionar para inferencia. Fuente: https://huggingface.co/docs/peft/en/package_reference/lora y https://arxiv.org/abs/2402.09353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 los criterios ya llegan como campos estructurados, una función de reglas es más simple y auditable. El valor potencial del LLM está en interpretar texto libre. No se propone automatizar decisiones críticas sin revisión. Material reproducible: dos notebooks ejecutados, scripts, datos, predicciones, adaptadores y versiones. Se agradece al HPC Khipu de UTEC por los recursos computacionales.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f6b15671147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bc2ca1ab642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f713aa8324e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aac91eae14b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e01a02bac41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9631bb5734f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64F04E-FFFF-4143-8D85-206B884A0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726455-ABDD-43AB-9337-009A97523C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71B607-18C5-4209-84E4-BA0CA9432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4626EF-8F34-4CA7-8967-4FD31C7A57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B2E94F4-3855-4F48-A335-3E36864CA4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AE9809-3CBD-4A8D-A948-E411047434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18F601-E663-454F-98E0-49693A0DEE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9C3B8C-2D5D-4621-AA40-A1189B7945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12FAA7-3BEA-4D8E-90BC-C2B75EEA5A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C3883D-3285-435E-B8F1-F2732264C7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642267f9de4185" /><Relationship Type="http://schemas.openxmlformats.org/officeDocument/2006/relationships/slideLayout" Target="/ppt/slideLayouts/slideLayout1.xml" Id="R351278c174d446c4" /><Relationship Type="http://schemas.openxmlformats.org/officeDocument/2006/relationships/slideLayout" Target="/ppt/slideLayouts/slideLayout2.xml" Id="Rd29696735bbd4056" /><Relationship Type="http://schemas.openxmlformats.org/officeDocument/2006/relationships/slideLayout" Target="/ppt/slideLayouts/slideLayout3.xml" Id="R55ae44d977ac4eb2" /><Relationship Type="http://schemas.openxmlformats.org/officeDocument/2006/relationships/slideLayout" Target="/ppt/slideLayouts/slideLayout4.xml" Id="R611a823022e64935" /><Relationship Type="http://schemas.openxmlformats.org/officeDocument/2006/relationships/slideLayout" Target="/ppt/slideLayouts/slideLayout5.xml" Id="Rf6ee8d782d4643a1" /><Relationship Type="http://schemas.openxmlformats.org/officeDocument/2006/relationships/slideLayout" Target="/ppt/slideLayouts/slideLayout6.xml" Id="R2976fab651ac41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1278c174d446c4"/>
    <p:sldLayoutId xmlns:r="http://schemas.openxmlformats.org/officeDocument/2006/relationships" id="2147483650" r:id="Rd29696735bbd4056"/>
    <p:sldLayoutId xmlns:r="http://schemas.openxmlformats.org/officeDocument/2006/relationships" id="2147483651" r:id="R55ae44d977ac4eb2"/>
    <p:sldLayoutId xmlns:r="http://schemas.openxmlformats.org/officeDocument/2006/relationships" id="2147483652" r:id="R611a823022e64935"/>
    <p:sldLayoutId xmlns:r="http://schemas.openxmlformats.org/officeDocument/2006/relationships" id="2147483653" r:id="Rf6ee8d782d4643a1"/>
    <p:sldLayoutId xmlns:r="http://schemas.openxmlformats.org/officeDocument/2006/relationships" id="2147483654" r:id="R2976fab651ac41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b3a411d904711" /><Relationship Type="http://schemas.openxmlformats.org/officeDocument/2006/relationships/notesSlide" Target="/ppt/notesSlides/notesSlide1.xml" Id="R72fa94b1e0f844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2320cb8bc641e5" /><Relationship Type="http://schemas.openxmlformats.org/officeDocument/2006/relationships/notesSlide" Target="/ppt/notesSlides/notesSlide2.xml" Id="Rdba5a854b1c148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0db6ec65814763" /><Relationship Type="http://schemas.openxmlformats.org/officeDocument/2006/relationships/notesSlide" Target="/ppt/notesSlides/notesSlide3.xml" Id="R671fb6ad86354e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dcf0ec2e845d6" /><Relationship Type="http://schemas.openxmlformats.org/officeDocument/2006/relationships/notesSlide" Target="/ppt/notesSlides/notesSlide4.xml" Id="R130251390cd542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1ca257c7164002" /><Relationship Type="http://schemas.openxmlformats.org/officeDocument/2006/relationships/chart" Target="/ppt/slides/charts/chart1.xml" Id="R2e368d0898344de8" /><Relationship Type="http://schemas.openxmlformats.org/officeDocument/2006/relationships/notesSlide" Target="/ppt/notesSlides/notesSlide5.xml" Id="R7721b393324745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5e280afde04a83" /><Relationship Type="http://schemas.openxmlformats.org/officeDocument/2006/relationships/notesSlide" Target="/ppt/notesSlides/notesSlide6.xml" Id="R25948e8b534f49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f7fb046e04091" /><Relationship Type="http://schemas.openxmlformats.org/officeDocument/2006/relationships/notesSlide" Target="/ppt/notesSlides/notesSlide7.xml" Id="R2350e2525cf847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9f4a063dec4931" /><Relationship Type="http://schemas.openxmlformats.org/officeDocument/2006/relationships/chart" Target="/ppt/slides/charts/chart2.xml" Id="Rbdf301e86ca544a0" /><Relationship Type="http://schemas.openxmlformats.org/officeDocument/2006/relationships/notesSlide" Target="/ppt/notesSlides/notesSlide8.xml" Id="R633f08516da340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6b6a9dba94e0b" /><Relationship Type="http://schemas.openxmlformats.org/officeDocument/2006/relationships/notesSlide" Target="/ppt/notesSlides/notesSlide9.xml" Id="R1e395d689728407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F1 macro</c:v>
          </c:tx>
          <c:spPr>
            <a:solidFill xmlns:a="http://schemas.openxmlformats.org/drawingml/2006/main">
              <a:srgbClr val="167C80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Base</c:v>
                </c:pt>
                <c:pt idx="1">
                  <c:v>LoRA</c:v>
                </c:pt>
                <c:pt idx="2">
                  <c:v>DoRA</c:v>
                </c:pt>
                <c:pt idx="3">
                  <c:v>LoRA, réplica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0.759564</c:v>
                </c:pt>
                <c:pt idx="1">
                  <c:v>0.875691</c:v>
                </c:pt>
                <c:pt idx="2">
                  <c:v>0.875691</c:v>
                </c:pt>
                <c:pt idx="3">
                  <c:v>0.83022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DoRA / LoRA</c:v>
          </c:tx>
          <c:spPr>
            <a:solidFill xmlns:a="http://schemas.openxmlformats.org/drawingml/2006/main">
              <a:srgbClr val="CE7837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Entrenamiento</c:v>
                </c:pt>
                <c:pt idx="1">
                  <c:v>Memoria GPU</c:v>
                </c:pt>
                <c:pt idx="2">
                  <c:v>Latencia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2.036422</c:v>
                </c:pt>
                <c:pt idx="1">
                  <c:v>1.087317</c:v>
                </c:pt>
                <c:pt idx="2">
                  <c:v>4.274557</c:v>
                </c:pt>
              </c:numCache>
            </c:numRef>
          </c:val>
        </c:ser>
        <c:dLbls>
          <c:numFmt formatCode="0.00&quot;x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B967B-DE75-4AA3-B1B8-790500D1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Priorización de tareas</a:t>
            </a:r>
          </a:p>
          <a:p xmlns:a="http://schemas.openxmlformats.org/drawingml/2006/main">
            <a:pPr>
              <a:defRPr sz="46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con Qwen3.5-4B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D4068-F197-41A8-9BDF-B0E9BDBF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67C8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67C8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67C8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67C8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67C8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67C8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67C8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67C8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6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7C80"/>
                </a:solidFill>
                <a:latin typeface="Arial"/>
                <a:ea typeface="Arial"/>
                <a:cs typeface="Arial"/>
              </a:rPr>
              <a:t>Comparación del modelo base, LoRA y DoRA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6CBA9-E144-4D88-A30D-BE9A7EAE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B7C"/>
                </a:solidFill>
                <a:latin typeface="Arial"/>
                <a:ea typeface="Arial"/>
                <a:cs typeface="Arial"/>
              </a:rPr>
              <a:t>Hackathon 8 · Refinamiento de LLMs</a:t>
            </a:r>
          </a:p>
          <a:p xmlns:a="http://schemas.openxmlformats.org/drawingml/2006/main">
            <a: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B7C"/>
                </a:solidFill>
                <a:latin typeface="Arial"/>
                <a:ea typeface="Arial"/>
                <a:cs typeface="Arial"/>
              </a:rPr>
              <a:t>Ejecución en el HPC Khipu de UTEC</a:t>
            </a:r>
          </a:p>
        </p:txBody>
      </p:sp>
    </p:spTree>
    <p:extLst>
      <p:ext uri="{BB962C8B-B14F-4D97-AF65-F5344CB8AC3E}">
        <p14:creationId xmlns:p14="http://schemas.microsoft.com/office/powerpoint/2010/main" val="464954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958C1-E678-4F3A-B3F3-386035EC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Cuatro niveles de prioridad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B912F-A7FB-4B5F-9CD3-F655F6217565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9067800"/>
              </a:tblGrid>
              <a:tr h="7048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7C80"/>
                          </a:solidFill>
                          <a:latin typeface="Arial"/>
                          <a:ea typeface="Arial"/>
                          <a:cs typeface="Arial"/>
                        </a:rPr>
                        <a:t>Prioridad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T w="9525">
                      <a:solidFill>
                        <a:srgbClr val="DDE5EA"/>
                      </a:solidFill>
                      <a:prstDash val="solid"/>
                    </a:lnT>
                    <a:lnB w="9525">
                      <a:solidFill>
                        <a:srgbClr val="DDE5EA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7C80"/>
                          </a:solidFill>
                          <a:latin typeface="Arial"/>
                          <a:ea typeface="Arial"/>
                          <a:cs typeface="Arial"/>
                        </a:rPr>
                        <a:t>Criterio principal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T w="9525">
                      <a:solidFill>
                        <a:srgbClr val="DDE5EA"/>
                      </a:solidFill>
                      <a:prstDash val="solid"/>
                    </a:lnT>
                    <a:lnB w="9525">
                      <a:solidFill>
                        <a:srgbClr val="DDE5EA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Crítica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Riesgo activo o interrupción amplia sin alternativa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Alta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Plazo cercano con impacto o dependencias; impacto alto sin alternativa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Media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Plazo de hasta 48 h, impacto medio/alto o tareas dependientes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Baja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Demás casos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D3E19-D5FC-4232-9CCA-CE379A48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A6B7C"/>
                </a:solidFill>
                <a:latin typeface="Arial"/>
                <a:ea typeface="Arial"/>
                <a:cs typeface="Arial"/>
              </a:rPr>
              <a:t>El bloqueo se informa por separado. La salida incluye prioridad, escalamiento, bloqueo y criterio decisivo.</a:t>
            </a:r>
          </a:p>
        </p:txBody>
      </p:sp>
    </p:spTree>
    <p:extLst>
      <p:ext uri="{BB962C8B-B14F-4D97-AF65-F5344CB8AC3E}">
        <p14:creationId xmlns:p14="http://schemas.microsoft.com/office/powerpoint/2010/main" val="179269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4A95F-6257-4963-9596-8A71BFB2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Datos y 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FD116-E061-47FB-A34C-538FDB10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  <a:lvl1pPr>
              <a:defRPr sz="69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1pPr>
            <a:lvl2pPr>
              <a:defRPr sz="69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2pPr>
            <a:lvl3pPr>
              <a:defRPr sz="69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3pPr>
            <a:lvl4pPr>
              <a:defRPr sz="69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4pPr>
            <a:lvl5pPr>
              <a:defRPr sz="69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5pPr>
            <a:lvl6pPr>
              <a:defRPr sz="69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6pPr>
            <a:lvl7pPr>
              <a:defRPr sz="69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7pPr>
            <a:lvl8pPr>
              <a:defRPr sz="69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8pPr>
            <a:lvl9pPr>
              <a:defRPr sz="69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384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A2CD3-33BF-447B-84EB-F816464F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ejemplos sintéticos</a:t>
            </a:r>
          </a:p>
          <a:p xmlns:a="http://schemas.openxmlformats.org/drawingml/2006/main">
            <a: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en español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11797-FC94-4519-872D-030E45B2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6096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256 entrenamiento</a:t>
            </a:r>
          </a:p>
          <a:p xmlns:a="http://schemas.openxmlformats.org/drawingml/2006/main">
            <a: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48 validación</a:t>
            </a:r>
          </a:p>
          <a:p xmlns:a="http://schemas.openxmlformats.org/drawingml/2006/main">
            <a: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64 prueba</a:t>
            </a:r>
          </a:p>
          <a:p xmlns:a="http://schemas.openxmlformats.org/drawingml/2006/main">
            <a: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16 casos difíciles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756CF-2C16-4B24-B885-216E95A1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B7C"/>
                </a:solidFill>
                <a:latin typeface="Arial"/>
                <a:ea typeface="Arial"/>
                <a:cs typeface="Arial"/>
              </a:rPr>
              <a:t>Cuatro clases equilibradas. Familias de tareas separadas entre particiones y sin duplicados exactos.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5D633-1C27-46EE-B99E-53D56A66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F1 macro como métrica principal; JSON inválido cuenta como error.</a:t>
            </a:r>
          </a:p>
        </p:txBody>
      </p:sp>
    </p:spTree>
    <p:extLst>
      <p:ext uri="{BB962C8B-B14F-4D97-AF65-F5344CB8AC3E}">
        <p14:creationId xmlns:p14="http://schemas.microsoft.com/office/powerpoint/2010/main" val="1617395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0A51D-7E92-43AF-9BB7-3F3320C5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Tecnología más actual: DoRA con PEFT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7975F-F6A9-4F55-B94E-A931778B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53063-D4FB-41FC-A14D-4694AF0B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4572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Referencia seleccionada por F1 de validación: 0.776. Actualización de bajo rango.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BF02F-C84D-49AC-9DF0-96B846B7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DoRA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0071B-E927-4B46-A304-82FEFEA0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572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Alternativa posterior a LoRA. Separa magnitud y dirección. PEFT: use_dora=True.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9C80E-B6EC-43B0-920C-BC319F2F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Comparación ejecutada en Khipu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E0222-286A-4B4B-80BE-B326894E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B7C"/>
                </a:solidFill>
                <a:latin typeface="Arial"/>
                <a:ea typeface="Arial"/>
                <a:cs typeface="Arial"/>
              </a:rPr>
              <a:t>Rango 8 · alpha 16 · 32 actualizaciones · lote efectivo 8</a:t>
            </a:r>
          </a:p>
          <a:p xmlns:a="http://schemas.openxmlformats.org/drawingml/2006/main">
            <a: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B7C"/>
                </a:solidFill>
                <a:latin typeface="Arial"/>
                <a:ea typeface="Arial"/>
                <a:cs typeface="Arial"/>
              </a:rPr>
              <a:t>NF4 de 4 bits · semilla 42 · réplica de LoRA con semilla 43</a:t>
            </a:r>
          </a:p>
        </p:txBody>
      </p:sp>
    </p:spTree>
    <p:extLst>
      <p:ext uri="{BB962C8B-B14F-4D97-AF65-F5344CB8AC3E}">
        <p14:creationId xmlns:p14="http://schemas.microsoft.com/office/powerpoint/2010/main" val="449265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E1778-7CA0-4697-8B8C-EFAE1A9F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Desempeño en la prueba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D7948F9D-BA60-4D8F-99AB-229BE3D4B2BA}"/>
              </a:ext>
            </a:extLst>
          </p:cNvPr>
          <p:cNvGraphicFramePr/>
          <p:nvPr/>
        </p:nvGraphicFramePr>
        <p:xfrm>
          <a:off xmlns:a="http://schemas.openxmlformats.org/drawingml/2006/main" x="781050" y="1485900"/>
          <a:ext xmlns:a="http://schemas.openxmlformats.org/drawingml/2006/main" cx="1047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368d0898344de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54C72-5046-4B98-869B-594F0A8D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LoRA frente a base: 11.61 puntos porcentuales de F1 macro.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F9D26-525C-419E-84DF-D6DE3173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626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B7C"/>
                </a:solidFill>
                <a:latin typeface="Arial"/>
                <a:ea typeface="Arial"/>
                <a:cs typeface="Arial"/>
              </a:rPr>
              <a:t>64 casos. El informe incluye intervalos por remuestreo pareado y resultados de cada campo.</a:t>
            </a:r>
          </a:p>
        </p:txBody>
      </p:sp>
    </p:spTree>
    <p:extLst>
      <p:ext uri="{BB962C8B-B14F-4D97-AF65-F5344CB8AC3E}">
        <p14:creationId xmlns:p14="http://schemas.microsoft.com/office/powerpoint/2010/main" val="1592014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ED41A-D0AD-406D-A181-80A5C0B8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Recursos medidos en Khipu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BA08F-5D9C-417E-80AF-4E9C80C4FCF7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667000"/>
                <a:gridCol w="2571750"/>
                <a:gridCol w="2590800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7C80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T w="9525">
                      <a:solidFill>
                        <a:srgbClr val="DDE5EA"/>
                      </a:solidFill>
                      <a:prstDash val="solid"/>
                    </a:lnT>
                    <a:lnB w="9525">
                      <a:solidFill>
                        <a:srgbClr val="DDE5EA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7C80"/>
                          </a:solidFill>
                          <a:latin typeface="Arial"/>
                          <a:ea typeface="Arial"/>
                          <a:cs typeface="Arial"/>
                        </a:rPr>
                        <a:t>Tiempo (min)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T w="9525">
                      <a:solidFill>
                        <a:srgbClr val="DDE5EA"/>
                      </a:solidFill>
                      <a:prstDash val="solid"/>
                    </a:lnT>
                    <a:lnB w="9525">
                      <a:solidFill>
                        <a:srgbClr val="DDE5EA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7C80"/>
                          </a:solidFill>
                          <a:latin typeface="Arial"/>
                          <a:ea typeface="Arial"/>
                          <a:cs typeface="Arial"/>
                        </a:rPr>
                        <a:t>VRAM (GiB)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T w="9525">
                      <a:solidFill>
                        <a:srgbClr val="DDE5EA"/>
                      </a:solidFill>
                      <a:prstDash val="solid"/>
                    </a:lnT>
                    <a:lnB w="9525">
                      <a:solidFill>
                        <a:srgbClr val="DDE5EA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7C80"/>
                          </a:solidFill>
                          <a:latin typeface="Arial"/>
                          <a:ea typeface="Arial"/>
                          <a:cs typeface="Arial"/>
                        </a:rPr>
                        <a:t>USD simulados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T w="9525">
                      <a:solidFill>
                        <a:srgbClr val="DDE5EA"/>
                      </a:solidFill>
                      <a:prstDash val="solid"/>
                    </a:lnT>
                    <a:lnB w="9525">
                      <a:solidFill>
                        <a:srgbClr val="DDE5EA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LoRA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2.76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3.24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0.0460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DoRA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5.62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3.52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0.0937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LoRA, réplica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2.75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3.24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0.0458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0EDAE-FCD6-4313-A43B-265D64C2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RTX A6000 · nodo ds001 · reserva de 7 shards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9B7C6-D3D9-4AD1-9E48-58850001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B7C"/>
                </a:solidFill>
                <a:latin typeface="Arial"/>
                <a:ea typeface="Arial"/>
                <a:cs typeface="Arial"/>
              </a:rPr>
              <a:t>GPU compartida. Costo hipotético de USD 1 por hora del recurso asignado; incluye solo entrenamiento.</a:t>
            </a:r>
          </a:p>
        </p:txBody>
      </p:sp>
    </p:spTree>
    <p:extLst>
      <p:ext uri="{BB962C8B-B14F-4D97-AF65-F5344CB8AC3E}">
        <p14:creationId xmlns:p14="http://schemas.microsoft.com/office/powerpoint/2010/main" val="438061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2474A-C0BA-4287-9702-015847B8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Errores y estabilidad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A32A5-6A06-4301-AC5F-11CAD07FC39C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571750"/>
                <a:gridCol w="2571750"/>
                <a:gridCol w="249555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7C80"/>
                          </a:solidFill>
                          <a:latin typeface="Arial"/>
                          <a:ea typeface="Arial"/>
                          <a:cs typeface="Arial"/>
                        </a:rPr>
                        <a:t>Condición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T w="9525">
                      <a:solidFill>
                        <a:srgbClr val="DDE5EA"/>
                      </a:solidFill>
                      <a:prstDash val="solid"/>
                    </a:lnT>
                    <a:lnB w="9525">
                      <a:solidFill>
                        <a:srgbClr val="DDE5EA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7C80"/>
                          </a:solidFill>
                          <a:latin typeface="Arial"/>
                          <a:ea typeface="Arial"/>
                          <a:cs typeface="Arial"/>
                        </a:rPr>
                        <a:t>Rec. crítica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T w="9525">
                      <a:solidFill>
                        <a:srgbClr val="DDE5EA"/>
                      </a:solidFill>
                      <a:prstDash val="solid"/>
                    </a:lnT>
                    <a:lnB w="9525">
                      <a:solidFill>
                        <a:srgbClr val="DDE5EA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7C80"/>
                          </a:solidFill>
                          <a:latin typeface="Arial"/>
                          <a:ea typeface="Arial"/>
                          <a:cs typeface="Arial"/>
                        </a:rPr>
                        <a:t>Exactitud total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T w="9525">
                      <a:solidFill>
                        <a:srgbClr val="DDE5EA"/>
                      </a:solidFill>
                      <a:prstDash val="solid"/>
                    </a:lnT>
                    <a:lnB w="9525">
                      <a:solidFill>
                        <a:srgbClr val="DDE5EA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7C80"/>
                          </a:solidFill>
                          <a:latin typeface="Arial"/>
                          <a:ea typeface="Arial"/>
                          <a:cs typeface="Arial"/>
                        </a:rPr>
                        <a:t>F1 difícil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T w="9525">
                      <a:solidFill>
                        <a:srgbClr val="DDE5EA"/>
                      </a:solidFill>
                      <a:prstDash val="solid"/>
                    </a:lnT>
                    <a:lnB w="9525">
                      <a:solidFill>
                        <a:srgbClr val="DDE5EA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87.5 %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53.1 %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0.750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LoRA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87.5 %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78.1 %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0.937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DoRA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87.5 %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78.1 %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0.879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LoRA, réplica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DDE5EA"/>
                      </a:solidFill>
                      <a:prstDash val="solid"/>
                    </a:lnL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87.5 %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71.9 %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0.750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DDE5EA"/>
                      </a:solidFill>
                      <a:prstDash val="solid"/>
                    </a:lnR>
                    <a:lnB w="9525">
                      <a:solidFill>
                        <a:srgbClr val="DDE5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7B625-DB13-4963-9EC1-637E849E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Réplica de LoRA: F1 0.876 y 0.830 con semillas 42 y 43.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62EA1-6A49-461E-BFCE-22014288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B7C"/>
                </a:solidFill>
                <a:latin typeface="Arial"/>
                <a:ea typeface="Arial"/>
                <a:cs typeface="Arial"/>
              </a:rPr>
              <a:t>El conjunto difícil tiene 16 casos. Los resultados requieren una validación posterior con mensajes reales.</a:t>
            </a:r>
          </a:p>
        </p:txBody>
      </p:sp>
    </p:spTree>
    <p:extLst>
      <p:ext uri="{BB962C8B-B14F-4D97-AF65-F5344CB8AC3E}">
        <p14:creationId xmlns:p14="http://schemas.microsoft.com/office/powerpoint/2010/main" val="1156612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BA5F5-E2DF-4F5D-8BF0-93B1AF01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LoRA y DoRA empatan en desempeño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9B945-BCFB-41B4-980B-81F884C2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F1 macro: 0.876 en ambos métodos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126F5023-014F-4397-AE47-063A8DDD82D5}"/>
              </a:ext>
            </a:extLst>
          </p:cNvPr>
          <p:cNvGraphicFramePr/>
          <p:nvPr/>
        </p:nvGraphicFramePr>
        <p:xfrm>
          <a:off xmlns:a="http://schemas.openxmlformats.org/drawingml/2006/main" x="781050" y="2209800"/>
          <a:ext xmlns:a="http://schemas.openxmlformats.org/drawingml/2006/main" cx="10477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f301e86ca544a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9864D-08FE-488F-B16A-E167E654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B7C"/>
                </a:solidFill>
                <a:latin typeface="Arial"/>
                <a:ea typeface="Arial"/>
                <a:cs typeface="Arial"/>
              </a:rPr>
              <a:t>Consumo relativo de DoRA: LoRA equivale a 1 en cada medida.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22BF0-DCEB-4DD6-B1CF-DD07A722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Elegimos LoRA: mismo F1 con menos tiempo y memoria.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345DE-F8DC-494E-8E0C-CAEAC887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B7C"/>
                </a:solidFill>
                <a:latin typeface="Arial"/>
                <a:ea typeface="Arial"/>
                <a:cs typeface="Arial"/>
              </a:rPr>
              <a:t>Configuración fija. Latencia sin fusionar adaptadores y con GPU compartida.</a:t>
            </a:r>
          </a:p>
        </p:txBody>
      </p:sp>
    </p:spTree>
    <p:extLst>
      <p:ext uri="{BB962C8B-B14F-4D97-AF65-F5344CB8AC3E}">
        <p14:creationId xmlns:p14="http://schemas.microsoft.com/office/powerpoint/2010/main" val="422452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FA69B-1126-4EDD-AEB6-04F0679D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B479B-A162-4706-9AF5-4571F4AA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76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Se recomienda LoRA para este prototipo. LoRA y DoRA empataron en validación y en prueba (F1 macro de 0.876), pero LoRA necesitó menos tiempo y memoria. La recuperación de tareas críticas fue del 87,5 %; ambas condiciones omitieron 2 de los 16 casos críticos.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7F9B1-B036-4638-B066-EAD2E310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La validez del JSON no garantiza una decisión correcta.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B332C-52D3-4BF9-915D-A7337483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A6B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B7C"/>
                </a:solidFill>
                <a:latin typeface="Arial"/>
                <a:ea typeface="Arial"/>
                <a:cs typeface="Arial"/>
              </a:rPr>
              <a:t>Datos sintéticos y reglas explícitas. El siguiente paso es una evaluación humana con solicitudes reales.</a:t>
            </a:r>
          </a:p>
        </p:txBody>
      </p:sp>
    </p:spTree>
    <p:extLst>
      <p:ext uri="{BB962C8B-B14F-4D97-AF65-F5344CB8AC3E}">
        <p14:creationId xmlns:p14="http://schemas.microsoft.com/office/powerpoint/2010/main" val="1005579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2026-10-23T09:20:55.0180000Z</dcterms:created>
  <dcterms:modified xsi:type="dcterms:W3CDTF">2026-10-23T09:20:55.0180000Z</dcterms:modified>
</coreProperties>
</file>